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fa3195baa4f8f" /><Relationship Type="http://schemas.openxmlformats.org/officeDocument/2006/relationships/extended-properties" Target="/docProps/app.xml" Id="Re5ea8c20cc634d1b" /><Relationship Type="http://schemas.openxmlformats.org/officeDocument/2006/relationships/officeDocument" Target="/ppt/presentation.xml" Id="R48908d988d5a40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2728dee84a428a"/>
  </p:sldMasterIdLst>
  <p:notesMasterIdLst>
    <p:notesMasterId xmlns:r="http://schemas.openxmlformats.org/officeDocument/2006/relationships" r:id="R95d6566a38c742c7"/>
  </p:notesMasterIdLst>
  <p:sldIdLst>
    <p:sldId xmlns:r="http://schemas.openxmlformats.org/officeDocument/2006/relationships" id="256" r:id="R6d64ccd7f72044a5"/>
    <p:sldId xmlns:r="http://schemas.openxmlformats.org/officeDocument/2006/relationships" id="257" r:id="Reee3443ea8f34d44"/>
    <p:sldId xmlns:r="http://schemas.openxmlformats.org/officeDocument/2006/relationships" id="258" r:id="R277da4a2d68745ed"/>
    <p:sldId xmlns:r="http://schemas.openxmlformats.org/officeDocument/2006/relationships" id="259" r:id="Rbd5d30944b9a46c9"/>
    <p:sldId xmlns:r="http://schemas.openxmlformats.org/officeDocument/2006/relationships" id="260" r:id="R70e00da7846f4b80"/>
    <p:sldId xmlns:r="http://schemas.openxmlformats.org/officeDocument/2006/relationships" id="261" r:id="R278a6556de064e75"/>
    <p:sldId xmlns:r="http://schemas.openxmlformats.org/officeDocument/2006/relationships" id="262" r:id="R6ec8b91749b84f8d"/>
    <p:sldId xmlns:r="http://schemas.openxmlformats.org/officeDocument/2006/relationships" id="263" r:id="R8841ea13d7744a5a"/>
    <p:sldId xmlns:r="http://schemas.openxmlformats.org/officeDocument/2006/relationships" id="264" r:id="R8748fb03b6fb451b"/>
    <p:sldId xmlns:r="http://schemas.openxmlformats.org/officeDocument/2006/relationships" id="265" r:id="Rca3f08c601654702"/>
    <p:sldId xmlns:r="http://schemas.openxmlformats.org/officeDocument/2006/relationships" id="266" r:id="R483f447f602f4034"/>
    <p:sldId xmlns:r="http://schemas.openxmlformats.org/officeDocument/2006/relationships" id="267" r:id="R520144dc59af468b"/>
    <p:sldId xmlns:r="http://schemas.openxmlformats.org/officeDocument/2006/relationships" id="268" r:id="Ra54f4dbb95404f15"/>
    <p:sldId xmlns:r="http://schemas.openxmlformats.org/officeDocument/2006/relationships" id="269" r:id="R24e0ac91ea5f42c9"/>
    <p:sldId xmlns:r="http://schemas.openxmlformats.org/officeDocument/2006/relationships" id="270" r:id="R511f7405ddf340ad"/>
    <p:sldId xmlns:r="http://schemas.openxmlformats.org/officeDocument/2006/relationships" id="271" r:id="Rde24a2294de641cd"/>
    <p:sldId xmlns:r="http://schemas.openxmlformats.org/officeDocument/2006/relationships" id="272" r:id="Re4b5b0ccfc0b4d5b"/>
    <p:sldId xmlns:r="http://schemas.openxmlformats.org/officeDocument/2006/relationships" id="273" r:id="R537238b1af7345ee"/>
    <p:sldId xmlns:r="http://schemas.openxmlformats.org/officeDocument/2006/relationships" id="274" r:id="Rc4a59e46d84a4665"/>
    <p:sldId xmlns:r="http://schemas.openxmlformats.org/officeDocument/2006/relationships" id="275" r:id="Ra2f4c5ffa1b045a0"/>
    <p:sldId xmlns:r="http://schemas.openxmlformats.org/officeDocument/2006/relationships" id="276" r:id="R5e5e44ed81854bda"/>
    <p:sldId xmlns:r="http://schemas.openxmlformats.org/officeDocument/2006/relationships" id="277" r:id="R7a4e33e6c58043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b8b9a389314ba3" /><Relationship Type="http://schemas.openxmlformats.org/officeDocument/2006/relationships/slideMaster" Target="/ppt/slideMasters/slideMaster1.xml" Id="Re92728dee84a428a" /><Relationship Type="http://schemas.openxmlformats.org/officeDocument/2006/relationships/notesMaster" Target="/ppt/notesMasters/notesMaster1.xml" Id="R95d6566a38c742c7" /><Relationship Type="http://schemas.openxmlformats.org/officeDocument/2006/relationships/presProps" Target="/ppt/presProps.xml" Id="Rc97a7a5f86ce4a30" /><Relationship Type="http://schemas.openxmlformats.org/officeDocument/2006/relationships/tableStyles" Target="/ppt/tableStyles.xml" Id="R026bbce0889c43dd" /><Relationship Type="http://schemas.openxmlformats.org/officeDocument/2006/relationships/slide" Target="/ppt/slides/slide1.xml" Id="R6d64ccd7f72044a5" /><Relationship Type="http://schemas.openxmlformats.org/officeDocument/2006/relationships/slide" Target="/ppt/slides/slide2.xml" Id="Reee3443ea8f34d44" /><Relationship Type="http://schemas.openxmlformats.org/officeDocument/2006/relationships/slide" Target="/ppt/slides/slide3.xml" Id="R277da4a2d68745ed" /><Relationship Type="http://schemas.openxmlformats.org/officeDocument/2006/relationships/slide" Target="/ppt/slides/slide4.xml" Id="Rbd5d30944b9a46c9" /><Relationship Type="http://schemas.openxmlformats.org/officeDocument/2006/relationships/slide" Target="/ppt/slides/slide5.xml" Id="R70e00da7846f4b80" /><Relationship Type="http://schemas.openxmlformats.org/officeDocument/2006/relationships/slide" Target="/ppt/slides/slide6.xml" Id="R278a6556de064e75" /><Relationship Type="http://schemas.openxmlformats.org/officeDocument/2006/relationships/slide" Target="/ppt/slides/slide7.xml" Id="R6ec8b91749b84f8d" /><Relationship Type="http://schemas.openxmlformats.org/officeDocument/2006/relationships/slide" Target="/ppt/slides/slide8.xml" Id="R8841ea13d7744a5a" /><Relationship Type="http://schemas.openxmlformats.org/officeDocument/2006/relationships/slide" Target="/ppt/slides/slide9.xml" Id="R8748fb03b6fb451b" /><Relationship Type="http://schemas.openxmlformats.org/officeDocument/2006/relationships/slide" Target="/ppt/slides/slide10.xml" Id="Rca3f08c601654702" /><Relationship Type="http://schemas.openxmlformats.org/officeDocument/2006/relationships/slide" Target="/ppt/slides/slide11.xml" Id="R483f447f602f4034" /><Relationship Type="http://schemas.openxmlformats.org/officeDocument/2006/relationships/slide" Target="/ppt/slides/slide12.xml" Id="R520144dc59af468b" /><Relationship Type="http://schemas.openxmlformats.org/officeDocument/2006/relationships/slide" Target="/ppt/slides/slide13.xml" Id="Ra54f4dbb95404f15" /><Relationship Type="http://schemas.openxmlformats.org/officeDocument/2006/relationships/slide" Target="/ppt/slides/slide14.xml" Id="R24e0ac91ea5f42c9" /><Relationship Type="http://schemas.openxmlformats.org/officeDocument/2006/relationships/slide" Target="/ppt/slides/slide15.xml" Id="R511f7405ddf340ad" /><Relationship Type="http://schemas.openxmlformats.org/officeDocument/2006/relationships/slide" Target="/ppt/slides/slide16.xml" Id="Rde24a2294de641cd" /><Relationship Type="http://schemas.openxmlformats.org/officeDocument/2006/relationships/slide" Target="/ppt/slides/slide17.xml" Id="Re4b5b0ccfc0b4d5b" /><Relationship Type="http://schemas.openxmlformats.org/officeDocument/2006/relationships/slide" Target="/ppt/slides/slide18.xml" Id="R537238b1af7345ee" /><Relationship Type="http://schemas.openxmlformats.org/officeDocument/2006/relationships/slide" Target="/ppt/slides/slide19.xml" Id="Rc4a59e46d84a4665" /><Relationship Type="http://schemas.openxmlformats.org/officeDocument/2006/relationships/slide" Target="/ppt/slides/slide20.xml" Id="Ra2f4c5ffa1b045a0" /><Relationship Type="http://schemas.openxmlformats.org/officeDocument/2006/relationships/slide" Target="/ppt/slides/slide21.xml" Id="R5e5e44ed81854bda" /><Relationship Type="http://schemas.openxmlformats.org/officeDocument/2006/relationships/slide" Target="/ppt/slides/slide22.xml" Id="R7a4e33e6c58043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761681cff4d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2703767624e1f" /><Relationship Type="http://schemas.openxmlformats.org/officeDocument/2006/relationships/notesMaster" Target="/ppt/notesMasters/notesMaster1.xml" Id="R56864db9727146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c04112cee4d9c" /><Relationship Type="http://schemas.openxmlformats.org/officeDocument/2006/relationships/notesMaster" Target="/ppt/notesMasters/notesMaster1.xml" Id="R29a6f9c3cfab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5645fa6fd645d4" /><Relationship Type="http://schemas.openxmlformats.org/officeDocument/2006/relationships/notesMaster" Target="/ppt/notesMasters/notesMaster1.xml" Id="R7781ad966aa74f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8f38dc126e49cc" /><Relationship Type="http://schemas.openxmlformats.org/officeDocument/2006/relationships/notesMaster" Target="/ppt/notesMasters/notesMaster1.xml" Id="R1bbe0cd8460f42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2131999a5d47fe" /><Relationship Type="http://schemas.openxmlformats.org/officeDocument/2006/relationships/notesMaster" Target="/ppt/notesMasters/notesMaster1.xml" Id="R34b02140d13742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bef0dca8d84222" /><Relationship Type="http://schemas.openxmlformats.org/officeDocument/2006/relationships/notesMaster" Target="/ppt/notesMasters/notesMaster1.xml" Id="Rd67c28fb158a4a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1a93296d2b484d" /><Relationship Type="http://schemas.openxmlformats.org/officeDocument/2006/relationships/notesMaster" Target="/ppt/notesMasters/notesMaster1.xml" Id="Rb3d7d5ee9968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1407df9f9c4f75" /><Relationship Type="http://schemas.openxmlformats.org/officeDocument/2006/relationships/notesMaster" Target="/ppt/notesMasters/notesMaster1.xml" Id="Rb3220b1a8f3b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6af1b6793d4f6d" /><Relationship Type="http://schemas.openxmlformats.org/officeDocument/2006/relationships/notesMaster" Target="/ppt/notesMasters/notesMaster1.xml" Id="R8a30ec6cc5734b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327df59e2141a9" /><Relationship Type="http://schemas.openxmlformats.org/officeDocument/2006/relationships/notesMaster" Target="/ppt/notesMasters/notesMaster1.xml" Id="R9395b9bcd04648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a234774a934bdf" /><Relationship Type="http://schemas.openxmlformats.org/officeDocument/2006/relationships/notesMaster" Target="/ppt/notesMasters/notesMaster1.xml" Id="R22d3425015734b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d03141d10a4da5" /><Relationship Type="http://schemas.openxmlformats.org/officeDocument/2006/relationships/notesMaster" Target="/ppt/notesMasters/notesMaster1.xml" Id="Rbf7169eff4c34c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ce7931cd7b4ad9" /><Relationship Type="http://schemas.openxmlformats.org/officeDocument/2006/relationships/notesMaster" Target="/ppt/notesMasters/notesMaster1.xml" Id="Rf950dde873e64a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703f6f9a9e48cc" /><Relationship Type="http://schemas.openxmlformats.org/officeDocument/2006/relationships/notesMaster" Target="/ppt/notesMasters/notesMaster1.xml" Id="R44c429be9d7641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80796cdba643ee" /><Relationship Type="http://schemas.openxmlformats.org/officeDocument/2006/relationships/notesMaster" Target="/ppt/notesMasters/notesMaster1.xml" Id="R78ae4db8f17a44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be4c8657d448e0" /><Relationship Type="http://schemas.openxmlformats.org/officeDocument/2006/relationships/notesMaster" Target="/ppt/notesMasters/notesMaster1.xml" Id="Rb6d5cd4340844e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586d4f09134ba6" /><Relationship Type="http://schemas.openxmlformats.org/officeDocument/2006/relationships/notesMaster" Target="/ppt/notesMasters/notesMaster1.xml" Id="R44893912bfdf4f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59a17a1e194153" /><Relationship Type="http://schemas.openxmlformats.org/officeDocument/2006/relationships/notesMaster" Target="/ppt/notesMasters/notesMaster1.xml" Id="Rd1cb8a9ac3254eb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fea4745c004de5" /><Relationship Type="http://schemas.openxmlformats.org/officeDocument/2006/relationships/notesMaster" Target="/ppt/notesMasters/notesMaster1.xml" Id="R2737a338f87f44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84a7cc79b84945" /><Relationship Type="http://schemas.openxmlformats.org/officeDocument/2006/relationships/notesMaster" Target="/ppt/notesMasters/notesMaster1.xml" Id="R32b53ddb0d4b46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b1c568a69a48c9" /><Relationship Type="http://schemas.openxmlformats.org/officeDocument/2006/relationships/notesMaster" Target="/ppt/notesMasters/notesMaster1.xml" Id="Rf371660469b243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1739369619449dd" /><Relationship Type="http://schemas.openxmlformats.org/officeDocument/2006/relationships/notesMaster" Target="/ppt/notesMasters/notesMaster1.xml" Id="R09771042f5bf40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Sentinel AI as a complete industrial safety platform rather than a single AI feature.</a:t>
            </a:r>
          </a:p>
          <a:p xmlns:a="http://schemas.openxmlformats.org/drawingml/2006/main">
            <a:r>
              <a:t>Call out the mix of operational modules, risk reasoning, and grounded copilot behavior that appears directly in the codebase.</a:t>
            </a:r>
          </a:p>
          <a:p xmlns:a="http://schemas.openxmlformats.org/drawingml/2006/main">
            <a:r>
              <a:t>Leave the team section editable for hackathon, placement, or investor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the operational problem: safety decisions involve assets, people, permits, and history at the same time.</a:t>
            </a:r>
          </a:p>
          <a:p xmlns:a="http://schemas.openxmlformats.org/drawingml/2006/main">
            <a:r>
              <a:t>The evidence for that claim comes from the domain model, route surface, and frontend workspaces present in the repository.</a:t>
            </a:r>
          </a:p>
          <a:p xmlns:a="http://schemas.openxmlformats.org/drawingml/2006/main">
            <a:r>
              <a:t>Transition by explaining that Sentinel AI exists to merge those inputs into a usable operating picture.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reframes the codebase as a response to concrete industrial workflow failures rather than as a generic software stack.</a:t>
            </a:r>
          </a:p>
          <a:p xmlns:a="http://schemas.openxmlformats.org/drawingml/2006/main">
            <a:r>
              <a:t>Each pain point here is linked to a module that exists in the repository: risk, compliance, copilot, or entity coordination.</a:t>
            </a:r>
          </a:p>
          <a:p xmlns:a="http://schemas.openxmlformats.org/drawingml/2006/main">
            <a:r>
              <a:t>Move next into how Sentinel AI turns those gaps into an integrated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solution as a three-part operating model: monitor, reason, and guide.</a:t>
            </a:r>
          </a:p>
          <a:p xmlns:a="http://schemas.openxmlformats.org/drawingml/2006/main">
            <a:r>
              <a:t>This keeps the narrative useful for both investors and technical reviewers because it ties product value to concrete code modules.</a:t>
            </a:r>
          </a:p>
          <a:p xmlns:a="http://schemas.openxmlformats.org/drawingml/2006/main">
            <a:r>
              <a:t>Use the bottom band to make the central takeaway explicit before moving into objectives and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objectives show that the product is designed for operational trust, not just model output quality.</a:t>
            </a:r>
          </a:p>
          <a:p xmlns:a="http://schemas.openxmlformats.org/drawingml/2006/main">
            <a:r>
              <a:t>Notice that every objective maps to an implemented service area: risk, graph, copilot, compliance, or dashboarding.</a:t>
            </a:r>
          </a:p>
          <a:p xmlns:a="http://schemas.openxmlformats.org/drawingml/2006/main">
            <a:r>
              <a:t>Transition by showing the user-facing feature surface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hackathon judges and investors because it shows breadth without claiming features that are not present.</a:t>
            </a:r>
          </a:p>
          <a:p xmlns:a="http://schemas.openxmlformats.org/drawingml/2006/main">
            <a:r>
              <a:t>The wording comes directly from route groups, navigation items, and service responsibilities in the repository.</a:t>
            </a:r>
          </a:p>
          <a:p xmlns:a="http://schemas.openxmlformats.org/drawingml/2006/main">
            <a:r>
              <a:t>Next, shift from feature surface to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architecture diagram is intentionally source-backed: every box maps to committed code, tracked datasets, or observed settings.</a:t>
            </a:r>
          </a:p>
          <a:p xmlns:a="http://schemas.openxmlformats.org/drawingml/2006/main">
            <a:r>
              <a:t>Call out the separation between frontend experience, backend orchestration, persistence, vector search, dataset assets, and external Gemini inference.</a:t>
            </a:r>
          </a:p>
          <a:p xmlns:a="http://schemas.openxmlformats.org/drawingml/2006/main">
            <a:r>
              <a:t>Use this slide as the bridge from product understanding to technical depth.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when a judge or professor asks why the project stack looks the way it does.</a:t>
            </a:r>
          </a:p>
          <a:p xmlns:a="http://schemas.openxmlformats.org/drawingml/2006/main">
            <a:r>
              <a:t>The blue footer makes the environment-variable surface explicit without exposing any secrets or inventing deployment details.</a:t>
            </a:r>
          </a:p>
          <a:p xmlns:a="http://schemas.openxmlformats.org/drawingml/2006/main">
            <a:r>
              <a:t>If needed, mention that no committed Docker or cloud manifests are present, so the stack slide sticks to code-level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especially helpful for technical interview or viva-style presentations because it proves repository organization discipline.</a:t>
            </a:r>
          </a:p>
          <a:p xmlns:a="http://schemas.openxmlformats.org/drawingml/2006/main">
            <a:r>
              <a:t>Use the left panel as the quick map and the right panel as the interpretation layer for non-technical audiences.</a:t>
            </a:r>
          </a:p>
          <a:p xmlns:a="http://schemas.openxmlformats.org/drawingml/2006/main">
            <a:r>
              <a:t>Transition from folder structure into the data model because that is where the domain complexity becomes most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ER diagram is intentionally simplified for readability, but every entity shown comes directly from the SQLAlchemy model file.</a:t>
            </a:r>
          </a:p>
          <a:p xmlns:a="http://schemas.openxmlformats.org/drawingml/2006/main">
            <a:r>
              <a:t>Highlight the operational backbone first: Plant to Zone to Equipment to Sensor to SensorReading.</a:t>
            </a:r>
          </a:p>
          <a:p xmlns:a="http://schemas.openxmlformats.org/drawingml/2006/main">
            <a:r>
              <a:t>Then call out the risk and response chain: Incident and RiskEvent feed Recommendation, while user-owned records support accountability and interaction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clean place to show that authentication is implemented end to end, not just mocked in the UI.</a:t>
            </a:r>
          </a:p>
          <a:p xmlns:a="http://schemas.openxmlformats.org/drawingml/2006/main">
            <a:r>
              <a:t>Mention the two user experience details that matter most: silent token refresh and automatic redirect when the session is gone.</a:t>
            </a:r>
          </a:p>
          <a:p xmlns:a="http://schemas.openxmlformats.org/drawingml/2006/main">
            <a:r>
              <a:t>That sets up the AI and backend workflow slides nicely because viewers can trust the protected system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one of the most important technical slides because it proves the AI path is grounded rather than purely generative.</a:t>
            </a:r>
          </a:p>
          <a:p xmlns:a="http://schemas.openxmlformats.org/drawingml/2006/main">
            <a:r>
              <a:t>Walk through the pipeline left to right and emphasize that retrieval, live operational data, and graph context all happen before generation.</a:t>
            </a:r>
          </a:p>
          <a:p xmlns:a="http://schemas.openxmlformats.org/drawingml/2006/main">
            <a:r>
              <a:t>End on the fallback point because it shows engineering resilience beyond the happy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backend as a layered execution model instead of a file inventory.</a:t>
            </a:r>
          </a:p>
          <a:p xmlns:a="http://schemas.openxmlformats.org/drawingml/2006/main">
            <a:r>
              <a:t>It helps technical audiences understand where policy, orchestration, and persistence responsibilities live.</a:t>
            </a:r>
          </a:p>
          <a:p xmlns:a="http://schemas.openxmlformats.org/drawingml/2006/main">
            <a:r>
              <a:t>Because this slide abstracts the common path, it also works well as the exported workflow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frontend equivalent of the backend workflow slide and helps demonstrate architectural consistency.</a:t>
            </a:r>
          </a:p>
          <a:p xmlns:a="http://schemas.openxmlformats.org/drawingml/2006/main">
            <a:r>
              <a:t>Emphasize that the UI is not page-by-page spaghetti: providers and service modules create reusable patterns.</a:t>
            </a:r>
          </a:p>
          <a:p xmlns:a="http://schemas.openxmlformats.org/drawingml/2006/main">
            <a:r>
              <a:t>That makes the application easier to scale as more plant workflows are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sequence diagram is a good answer to the question, what actually happens when the AI copilot is used?</a:t>
            </a:r>
          </a:p>
          <a:p xmlns:a="http://schemas.openxmlformats.org/drawingml/2006/main">
            <a:r>
              <a:t>Walk viewers through authentication, retrieval, context assembly, Gemini generation, and persistence in order.</a:t>
            </a:r>
          </a:p>
          <a:p xmlns:a="http://schemas.openxmlformats.org/drawingml/2006/main">
            <a:r>
              <a:t>Because this is source-backed, it doubles as both an architecture explanation and an API execution proof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here: the application topology is visible, but infrastructure as code is not committed in the repository.</a:t>
            </a:r>
          </a:p>
          <a:p xmlns:a="http://schemas.openxmlformats.org/drawingml/2006/main">
            <a:r>
              <a:t>That honesty matters for technical credibility. It also creates a natural recommendation for future delivery maturity.</a:t>
            </a:r>
          </a:p>
          <a:p xmlns:a="http://schemas.openxmlformats.org/drawingml/2006/main">
            <a:r>
              <a:t>If someone asks about a specific cloud provider, explain that the deck intentionally avoids claiming one unless the repo proves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helps reassure reviewers that the AI features are wrapped in normal application security controls.</a:t>
            </a:r>
          </a:p>
          <a:p xmlns:a="http://schemas.openxmlformats.org/drawingml/2006/main">
            <a:r>
              <a:t>The most important point is that trust is enforced at multiple layers: session, role, schema, and prompt behavior.</a:t>
            </a:r>
          </a:p>
          <a:p xmlns:a="http://schemas.openxmlformats.org/drawingml/2006/main">
            <a:r>
              <a:t>That makes Sentinel AI easier to position for enterprise or industrial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balanced. It shows the engineering team has already made pragmatic optimization choices, but it does not hide the main scaling pressures.</a:t>
            </a:r>
          </a:p>
          <a:p xmlns:a="http://schemas.openxmlformats.org/drawingml/2006/main">
            <a:r>
              <a:t>If the audience asks where to optimize next, point to the orchestration-heavy copilot path and the RAG asset lifecycle.</a:t>
            </a:r>
          </a:p>
          <a:p xmlns:a="http://schemas.openxmlformats.org/drawingml/2006/main">
            <a:r>
              <a:t>That keeps the discussion honest and useful for both technical and product stakeholders.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can sound realistic rather than overly polished. Good technical presentations acknowledge the true hard parts.</a:t>
            </a:r>
          </a:p>
          <a:p xmlns:a="http://schemas.openxmlformats.org/drawingml/2006/main">
            <a:r>
              <a:t>These challenges are not guesses. They are implied by the number of modules, the scope of the domain model, and the AI orchestration path.</a:t>
            </a:r>
          </a:p>
          <a:p xmlns:a="http://schemas.openxmlformats.org/drawingml/2006/main">
            <a:r>
              <a:t>That realism makes the future-scope slide feel more credible.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future-scope slide should feel like an extension of the current architecture, not a detached wish list.</a:t>
            </a:r>
          </a:p>
          <a:p xmlns:a="http://schemas.openxmlformats.org/drawingml/2006/main">
            <a:r>
              <a:t>Each item here connects directly to something already present in the repository, such as RAG, deployment gaps, or operational dashboards.</a:t>
            </a:r>
          </a:p>
          <a:p xmlns:a="http://schemas.openxmlformats.org/drawingml/2006/main">
            <a:r>
              <a:t>That makes the roadmap believable for both technical reviewers and investors.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live demo disciplined. This six-step flow aligns tightly to the implemented product surface and avoids dead ends.</a:t>
            </a:r>
          </a:p>
          <a:p xmlns:a="http://schemas.openxmlformats.org/drawingml/2006/main">
            <a:r>
              <a:t>For a short demo, the dashboard, risk center, and copilot steps usually create the strongest narrative payoff.</a:t>
            </a:r>
          </a:p>
          <a:p xmlns:a="http://schemas.openxmlformats.org/drawingml/2006/main">
            <a:r>
              <a:t>If time allows, add incidents or compliance to show that the system is broader than a single AI chat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that the presentation is source-backed, editable, and ready for different presentation settings.</a:t>
            </a:r>
          </a:p>
          <a:p xmlns:a="http://schemas.openxmlformats.org/drawingml/2006/main">
            <a:r>
              <a:t>Invite questions on architecture, AI pipeline, or deployment maturity depending on the audience.</a:t>
            </a:r>
          </a:p>
          <a:p xmlns:a="http://schemas.openxmlformats.org/drawingml/2006/main">
            <a:r>
              <a:t>If this is a judged demo, end by returning to the central takeaway: Sentinel AI turns fragmented industrial signals into explainable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8e2ce11df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233264608445a5" /><Relationship Type="http://schemas.openxmlformats.org/officeDocument/2006/relationships/slideLayout" Target="/ppt/slideLayouts/slideLayout1.xml" Id="Rdf553f056bcb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53f056bcb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0fde5c2e24915" /><Relationship Type="http://schemas.openxmlformats.org/officeDocument/2006/relationships/image" Target="/ppt/media/image.png" Id="R104223d915644aa8" /><Relationship Type="http://schemas.openxmlformats.org/officeDocument/2006/relationships/image" Target="/ppt/media/image.svg" Id="R276b302661ec41b5" /><Relationship Type="http://schemas.openxmlformats.org/officeDocument/2006/relationships/image" Target="/ppt/media/image2.png" Id="R6e1c600d17584b16" /><Relationship Type="http://schemas.openxmlformats.org/officeDocument/2006/relationships/image" Target="/ppt/media/image2.svg" Id="R4358e68fec064dcc" /><Relationship Type="http://schemas.openxmlformats.org/officeDocument/2006/relationships/image" Target="/ppt/media/image3.png" Id="Rac77eba70c98426e" /><Relationship Type="http://schemas.openxmlformats.org/officeDocument/2006/relationships/image" Target="/ppt/media/image3.svg" Id="Re2eab3bb9a4b45e3" /><Relationship Type="http://schemas.openxmlformats.org/officeDocument/2006/relationships/image" Target="/ppt/media/image4.png" Id="Re874a0eb899343fb" /><Relationship Type="http://schemas.openxmlformats.org/officeDocument/2006/relationships/image" Target="/ppt/media/image4.svg" Id="Rbcfbfb1c5ea846b7" /><Relationship Type="http://schemas.openxmlformats.org/officeDocument/2006/relationships/image" Target="/ppt/media/image5.png" Id="Rdc4ad0429c8e4c30" /><Relationship Type="http://schemas.openxmlformats.org/officeDocument/2006/relationships/image" Target="/ppt/media/image5.svg" Id="R14896705b84c4fd3" /><Relationship Type="http://schemas.openxmlformats.org/officeDocument/2006/relationships/notesSlide" Target="/ppt/notesSlides/notesSlide1.xml" Id="Rb0bbf91bf88f49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47fffbe4d4438" /><Relationship Type="http://schemas.openxmlformats.org/officeDocument/2006/relationships/image" Target="/ppt/media/image6.png" Id="R29e5bda89cec41a6" /><Relationship Type="http://schemas.openxmlformats.org/officeDocument/2006/relationships/image" Target="/ppt/media/image6.svg" Id="Rdc293ba8fb3e4845" /><Relationship Type="http://schemas.openxmlformats.org/officeDocument/2006/relationships/image" Target="/ppt/media/image7.png" Id="R45777684d0094b54" /><Relationship Type="http://schemas.openxmlformats.org/officeDocument/2006/relationships/image" Target="/ppt/media/image7.svg" Id="Rb8b2ba1c462c4f7f" /><Relationship Type="http://schemas.openxmlformats.org/officeDocument/2006/relationships/image" Target="/ppt/media/image8.png" Id="R447e988f7b164a48" /><Relationship Type="http://schemas.openxmlformats.org/officeDocument/2006/relationships/image" Target="/ppt/media/image8.svg" Id="R8c85b29183fd4a1e" /><Relationship Type="http://schemas.openxmlformats.org/officeDocument/2006/relationships/image" Target="/ppt/media/image9.png" Id="R4b824ff4f2994f19" /><Relationship Type="http://schemas.openxmlformats.org/officeDocument/2006/relationships/image" Target="/ppt/media/image9.svg" Id="Rcefdae8f6b054d4a" /><Relationship Type="http://schemas.openxmlformats.org/officeDocument/2006/relationships/image" Target="/ppt/media/image10.png" Id="R8ed2c5ad95d9457f" /><Relationship Type="http://schemas.openxmlformats.org/officeDocument/2006/relationships/image" Target="/ppt/media/image10.svg" Id="R741e4a8a619542d0" /><Relationship Type="http://schemas.openxmlformats.org/officeDocument/2006/relationships/notesSlide" Target="/ppt/notesSlides/notesSlide2.xml" Id="Rf799810d90ff4e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cf5800c9d412c" /><Relationship Type="http://schemas.openxmlformats.org/officeDocument/2006/relationships/image" Target="/ppt/media/image11.png" Id="Rc3deb8b7d1a14b9c" /><Relationship Type="http://schemas.openxmlformats.org/officeDocument/2006/relationships/image" Target="/ppt/media/image11.svg" Id="Rb39b30f522344364" /><Relationship Type="http://schemas.openxmlformats.org/officeDocument/2006/relationships/image" Target="/ppt/media/image12.png" Id="R2c597f4bb6c54127" /><Relationship Type="http://schemas.openxmlformats.org/officeDocument/2006/relationships/image" Target="/ppt/media/image12.svg" Id="Rb8c793d887a84eca" /><Relationship Type="http://schemas.openxmlformats.org/officeDocument/2006/relationships/image" Target="/ppt/media/image13.png" Id="Rf768e5dd1689429e" /><Relationship Type="http://schemas.openxmlformats.org/officeDocument/2006/relationships/image" Target="/ppt/media/image13.svg" Id="Reb19ae65f364403b" /><Relationship Type="http://schemas.openxmlformats.org/officeDocument/2006/relationships/image" Target="/ppt/media/image14.png" Id="Re832a11c43f0431e" /><Relationship Type="http://schemas.openxmlformats.org/officeDocument/2006/relationships/image" Target="/ppt/media/image14.svg" Id="R2fcb8615c9b74e9b" /><Relationship Type="http://schemas.openxmlformats.org/officeDocument/2006/relationships/notesSlide" Target="/ppt/notesSlides/notesSlide3.xml" Id="R2e9b8e121ea241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af5188f744c86" /><Relationship Type="http://schemas.openxmlformats.org/officeDocument/2006/relationships/image" Target="/ppt/media/image15.png" Id="Rc41c3d7e283e4744" /><Relationship Type="http://schemas.openxmlformats.org/officeDocument/2006/relationships/image" Target="/ppt/media/image15.svg" Id="R436b6c047d4747c9" /><Relationship Type="http://schemas.openxmlformats.org/officeDocument/2006/relationships/image" Target="/ppt/media/image16.png" Id="R7cc24d9c26124829" /><Relationship Type="http://schemas.openxmlformats.org/officeDocument/2006/relationships/image" Target="/ppt/media/image16.svg" Id="R2008061ae28047b1" /><Relationship Type="http://schemas.openxmlformats.org/officeDocument/2006/relationships/image" Target="/ppt/media/image17.png" Id="Ra6ffd92d44ab4aca" /><Relationship Type="http://schemas.openxmlformats.org/officeDocument/2006/relationships/image" Target="/ppt/media/image17.svg" Id="Rf7d75fafc4ba4a40" /><Relationship Type="http://schemas.openxmlformats.org/officeDocument/2006/relationships/notesSlide" Target="/ppt/notesSlides/notesSlide4.xml" Id="R5efaa7f3cf5d45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0cbd4a68b42df" /><Relationship Type="http://schemas.openxmlformats.org/officeDocument/2006/relationships/image" Target="/ppt/media/image18.png" Id="R338ede0cd620478b" /><Relationship Type="http://schemas.openxmlformats.org/officeDocument/2006/relationships/image" Target="/ppt/media/image18.svg" Id="R9c38291607d24b5c" /><Relationship Type="http://schemas.openxmlformats.org/officeDocument/2006/relationships/image" Target="/ppt/media/image19.png" Id="Rb09fa9ca81254301" /><Relationship Type="http://schemas.openxmlformats.org/officeDocument/2006/relationships/image" Target="/ppt/media/image19.svg" Id="R9f2a19fd41f0400f" /><Relationship Type="http://schemas.openxmlformats.org/officeDocument/2006/relationships/image" Target="/ppt/media/image20.png" Id="R381c4c2712364215" /><Relationship Type="http://schemas.openxmlformats.org/officeDocument/2006/relationships/image" Target="/ppt/media/image20.svg" Id="R232a137b4f064ef5" /><Relationship Type="http://schemas.openxmlformats.org/officeDocument/2006/relationships/image" Target="/ppt/media/image21.png" Id="Rb9e125344c6d48b1" /><Relationship Type="http://schemas.openxmlformats.org/officeDocument/2006/relationships/image" Target="/ppt/media/image21.svg" Id="R8010a36d457641ee" /><Relationship Type="http://schemas.openxmlformats.org/officeDocument/2006/relationships/notesSlide" Target="/ppt/notesSlides/notesSlide5.xml" Id="R0f4cb6f7a72342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658ecc0f944ff" /><Relationship Type="http://schemas.openxmlformats.org/officeDocument/2006/relationships/image" Target="/ppt/media/image22.png" Id="Rbb5666f395814b63" /><Relationship Type="http://schemas.openxmlformats.org/officeDocument/2006/relationships/image" Target="/ppt/media/image22.svg" Id="R66413e0923c04895" /><Relationship Type="http://schemas.openxmlformats.org/officeDocument/2006/relationships/image" Target="/ppt/media/image23.png" Id="R7db7da4c59b14f4c" /><Relationship Type="http://schemas.openxmlformats.org/officeDocument/2006/relationships/image" Target="/ppt/media/image23.svg" Id="Rd70413d97c5e43de" /><Relationship Type="http://schemas.openxmlformats.org/officeDocument/2006/relationships/image" Target="/ppt/media/image24.png" Id="R837bcad3c8264f60" /><Relationship Type="http://schemas.openxmlformats.org/officeDocument/2006/relationships/image" Target="/ppt/media/image24.svg" Id="Rcfe2ef1ae84a4199" /><Relationship Type="http://schemas.openxmlformats.org/officeDocument/2006/relationships/image" Target="/ppt/media/image25.png" Id="Ra3418467f93c4659" /><Relationship Type="http://schemas.openxmlformats.org/officeDocument/2006/relationships/image" Target="/ppt/media/image25.svg" Id="Ra939c386d57247af" /><Relationship Type="http://schemas.openxmlformats.org/officeDocument/2006/relationships/image" Target="/ppt/media/image26.png" Id="Rbfea057f29aa431b" /><Relationship Type="http://schemas.openxmlformats.org/officeDocument/2006/relationships/image" Target="/ppt/media/image26.svg" Id="Ra55fcf7f60754b9c" /><Relationship Type="http://schemas.openxmlformats.org/officeDocument/2006/relationships/image" Target="/ppt/media/image27.png" Id="Re01d6aa6ed9642d9" /><Relationship Type="http://schemas.openxmlformats.org/officeDocument/2006/relationships/image" Target="/ppt/media/image27.svg" Id="R7379b5fdbe1a4ce9" /><Relationship Type="http://schemas.openxmlformats.org/officeDocument/2006/relationships/notesSlide" Target="/ppt/notesSlides/notesSlide6.xml" Id="R81ce981894fe4b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7b1640ee24e86" /><Relationship Type="http://schemas.openxmlformats.org/officeDocument/2006/relationships/image" Target="/ppt/media/image28.png" Id="R7663f00e3f1d49ea" /><Relationship Type="http://schemas.openxmlformats.org/officeDocument/2006/relationships/image" Target="/ppt/media/image28.svg" Id="R60db7fb5ea5c44a1" /><Relationship Type="http://schemas.openxmlformats.org/officeDocument/2006/relationships/image" Target="/ppt/media/image29.png" Id="R11bc3f3d80424e44" /><Relationship Type="http://schemas.openxmlformats.org/officeDocument/2006/relationships/image" Target="/ppt/media/image29.svg" Id="Rf2c2a5225e3b4211" /><Relationship Type="http://schemas.openxmlformats.org/officeDocument/2006/relationships/image" Target="/ppt/media/image30.png" Id="Rfee3111c187e46cc" /><Relationship Type="http://schemas.openxmlformats.org/officeDocument/2006/relationships/image" Target="/ppt/media/image30.svg" Id="Rb3133cb906b74ad8" /><Relationship Type="http://schemas.openxmlformats.org/officeDocument/2006/relationships/image" Target="/ppt/media/image31.png" Id="R433d660424d94f14" /><Relationship Type="http://schemas.openxmlformats.org/officeDocument/2006/relationships/image" Target="/ppt/media/image31.svg" Id="R4e2d84df2b6f4741" /><Relationship Type="http://schemas.openxmlformats.org/officeDocument/2006/relationships/image" Target="/ppt/media/image32.png" Id="R1f047476bc154cdb" /><Relationship Type="http://schemas.openxmlformats.org/officeDocument/2006/relationships/image" Target="/ppt/media/image32.svg" Id="R91a41ae7adf141ed" /><Relationship Type="http://schemas.openxmlformats.org/officeDocument/2006/relationships/image" Target="/ppt/media/image33.png" Id="Rdd6e45f926814ef0" /><Relationship Type="http://schemas.openxmlformats.org/officeDocument/2006/relationships/image" Target="/ppt/media/image33.svg" Id="R275194bcb44241c1" /><Relationship Type="http://schemas.openxmlformats.org/officeDocument/2006/relationships/image" Target="/ppt/media/image34.png" Id="Re35bfa2685c54a94" /><Relationship Type="http://schemas.openxmlformats.org/officeDocument/2006/relationships/image" Target="/ppt/media/image34.svg" Id="R76e23e61b5f94c9a" /><Relationship Type="http://schemas.openxmlformats.org/officeDocument/2006/relationships/image" Target="/ppt/media/image35.png" Id="Rda060abed0144ec4" /><Relationship Type="http://schemas.openxmlformats.org/officeDocument/2006/relationships/image" Target="/ppt/media/image35.svg" Id="Ra566424c02b445ee" /><Relationship Type="http://schemas.openxmlformats.org/officeDocument/2006/relationships/image" Target="/ppt/media/image36.png" Id="R214717534b15462c" /><Relationship Type="http://schemas.openxmlformats.org/officeDocument/2006/relationships/image" Target="/ppt/media/image36.svg" Id="R9af22fa93f674616" /><Relationship Type="http://schemas.openxmlformats.org/officeDocument/2006/relationships/image" Target="/ppt/media/image37.png" Id="Reb46305d6331489c" /><Relationship Type="http://schemas.openxmlformats.org/officeDocument/2006/relationships/image" Target="/ppt/media/image37.svg" Id="R3b00b62534b346b4" /><Relationship Type="http://schemas.openxmlformats.org/officeDocument/2006/relationships/image" Target="/ppt/media/image38.png" Id="R14dee9b6e9e046ef" /><Relationship Type="http://schemas.openxmlformats.org/officeDocument/2006/relationships/image" Target="/ppt/media/image38.svg" Id="R00c854859eba4fc1" /><Relationship Type="http://schemas.openxmlformats.org/officeDocument/2006/relationships/notesSlide" Target="/ppt/notesSlides/notesSlide7.xml" Id="R1b2696b138854d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b8a7e17184630" /><Relationship Type="http://schemas.openxmlformats.org/officeDocument/2006/relationships/image" Target="/ppt/media/image39.png" Id="Rb70cbf3b6f8543d6" /><Relationship Type="http://schemas.openxmlformats.org/officeDocument/2006/relationships/image" Target="/ppt/media/image39.svg" Id="R0bbaf798dadf481a" /><Relationship Type="http://schemas.openxmlformats.org/officeDocument/2006/relationships/image" Target="/ppt/media/image40.png" Id="R7be9d48256ca49df" /><Relationship Type="http://schemas.openxmlformats.org/officeDocument/2006/relationships/image" Target="/ppt/media/image40.svg" Id="R35ef48fd328f4e39" /><Relationship Type="http://schemas.openxmlformats.org/officeDocument/2006/relationships/image" Target="/ppt/media/image41.png" Id="R1791580de1744320" /><Relationship Type="http://schemas.openxmlformats.org/officeDocument/2006/relationships/image" Target="/ppt/media/image41.svg" Id="Rf4d59bcb36524865" /><Relationship Type="http://schemas.openxmlformats.org/officeDocument/2006/relationships/image" Target="/ppt/media/image42.png" Id="Rb5fc59af37004399" /><Relationship Type="http://schemas.openxmlformats.org/officeDocument/2006/relationships/image" Target="/ppt/media/image42.svg" Id="R25f47540fa5f4bfc" /><Relationship Type="http://schemas.openxmlformats.org/officeDocument/2006/relationships/image" Target="/ppt/media/image43.png" Id="Rc5fa7261e74344f2" /><Relationship Type="http://schemas.openxmlformats.org/officeDocument/2006/relationships/image" Target="/ppt/media/image43.svg" Id="Rbd5421870a184f18" /><Relationship Type="http://schemas.openxmlformats.org/officeDocument/2006/relationships/image" Target="/ppt/media/image44.png" Id="Re8c1d054a79f450b" /><Relationship Type="http://schemas.openxmlformats.org/officeDocument/2006/relationships/image" Target="/ppt/media/image44.svg" Id="Rf24e80a10055454a" /><Relationship Type="http://schemas.openxmlformats.org/officeDocument/2006/relationships/notesSlide" Target="/ppt/notesSlides/notesSlide8.xml" Id="Rf4bcd475877d42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c825497d34093" /><Relationship Type="http://schemas.openxmlformats.org/officeDocument/2006/relationships/image" Target="/ppt/media/image45.png" Id="Ra8cdd6e8b76a4a7b" /><Relationship Type="http://schemas.openxmlformats.org/officeDocument/2006/relationships/image" Target="/ppt/media/image45.svg" Id="R42c21bdfd9934569" /><Relationship Type="http://schemas.openxmlformats.org/officeDocument/2006/relationships/image" Target="/ppt/media/image46.png" Id="Re718644dcca348a9" /><Relationship Type="http://schemas.openxmlformats.org/officeDocument/2006/relationships/image" Target="/ppt/media/image46.svg" Id="R1554f42815b440d4" /><Relationship Type="http://schemas.openxmlformats.org/officeDocument/2006/relationships/image" Target="/ppt/media/image47.png" Id="Ree4027461ccf4be6" /><Relationship Type="http://schemas.openxmlformats.org/officeDocument/2006/relationships/image" Target="/ppt/media/image47.svg" Id="Rf75d5832f59e4efb" /><Relationship Type="http://schemas.openxmlformats.org/officeDocument/2006/relationships/image" Target="/ppt/media/image48.png" Id="R88c3da8d247e4ac9" /><Relationship Type="http://schemas.openxmlformats.org/officeDocument/2006/relationships/image" Target="/ppt/media/image48.svg" Id="Rb2c08c926ba74c99" /><Relationship Type="http://schemas.openxmlformats.org/officeDocument/2006/relationships/notesSlide" Target="/ppt/notesSlides/notesSlide9.xml" Id="R2b768d873a3f4a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3271bb33040ac" /><Relationship Type="http://schemas.openxmlformats.org/officeDocument/2006/relationships/notesSlide" Target="/ppt/notesSlides/notesSlide10.xml" Id="R5df30eb3491d4c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b0ef9fcc74553" /><Relationship Type="http://schemas.openxmlformats.org/officeDocument/2006/relationships/image" Target="/ppt/media/image49.png" Id="R385b729fd4c44987" /><Relationship Type="http://schemas.openxmlformats.org/officeDocument/2006/relationships/image" Target="/ppt/media/image49.svg" Id="R944a83c831644e84" /><Relationship Type="http://schemas.openxmlformats.org/officeDocument/2006/relationships/image" Target="/ppt/media/image50.png" Id="R7a6f713a267e483b" /><Relationship Type="http://schemas.openxmlformats.org/officeDocument/2006/relationships/image" Target="/ppt/media/image50.svg" Id="R5abd7f452396410c" /><Relationship Type="http://schemas.openxmlformats.org/officeDocument/2006/relationships/image" Target="/ppt/media/image51.png" Id="R30bbcdc730234439" /><Relationship Type="http://schemas.openxmlformats.org/officeDocument/2006/relationships/image" Target="/ppt/media/image51.svg" Id="R780de2352fdd4a67" /><Relationship Type="http://schemas.openxmlformats.org/officeDocument/2006/relationships/image" Target="/ppt/media/image52.png" Id="Rc7f92e2ec93b4691" /><Relationship Type="http://schemas.openxmlformats.org/officeDocument/2006/relationships/image" Target="/ppt/media/image52.svg" Id="R558056fbf84b42b4" /><Relationship Type="http://schemas.openxmlformats.org/officeDocument/2006/relationships/image" Target="/ppt/media/image53.png" Id="Rcbe0e246811a4dbb" /><Relationship Type="http://schemas.openxmlformats.org/officeDocument/2006/relationships/image" Target="/ppt/media/image53.svg" Id="R3997b3500aa14934" /><Relationship Type="http://schemas.openxmlformats.org/officeDocument/2006/relationships/notesSlide" Target="/ppt/notesSlides/notesSlide11.xml" Id="R9c3c488e68964b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07604b10b49cf" /><Relationship Type="http://schemas.openxmlformats.org/officeDocument/2006/relationships/image" Target="/ppt/media/image54.png" Id="Rc5568ea1772e484d" /><Relationship Type="http://schemas.openxmlformats.org/officeDocument/2006/relationships/image" Target="/ppt/media/image54.svg" Id="R570747413423484c" /><Relationship Type="http://schemas.openxmlformats.org/officeDocument/2006/relationships/image" Target="/ppt/media/image55.png" Id="Raf99aceefaeb4a20" /><Relationship Type="http://schemas.openxmlformats.org/officeDocument/2006/relationships/image" Target="/ppt/media/image55.svg" Id="Rdcec25497b004d51" /><Relationship Type="http://schemas.openxmlformats.org/officeDocument/2006/relationships/image" Target="/ppt/media/image56.png" Id="R88b2549f79b240b4" /><Relationship Type="http://schemas.openxmlformats.org/officeDocument/2006/relationships/image" Target="/ppt/media/image56.svg" Id="R203c507946e64a36" /><Relationship Type="http://schemas.openxmlformats.org/officeDocument/2006/relationships/image" Target="/ppt/media/image57.png" Id="R2994910d23344bef" /><Relationship Type="http://schemas.openxmlformats.org/officeDocument/2006/relationships/image" Target="/ppt/media/image57.svg" Id="Rb5ff26072f774099" /><Relationship Type="http://schemas.openxmlformats.org/officeDocument/2006/relationships/image" Target="/ppt/media/image58.png" Id="R96b77f224f5e4271" /><Relationship Type="http://schemas.openxmlformats.org/officeDocument/2006/relationships/image" Target="/ppt/media/image58.svg" Id="Rd2dcaa7d2a3c47ba" /><Relationship Type="http://schemas.openxmlformats.org/officeDocument/2006/relationships/image" Target="/ppt/media/image59.png" Id="R9c2a53a8d20b4a92" /><Relationship Type="http://schemas.openxmlformats.org/officeDocument/2006/relationships/image" Target="/ppt/media/image59.svg" Id="R24e4243193c34b6a" /><Relationship Type="http://schemas.openxmlformats.org/officeDocument/2006/relationships/notesSlide" Target="/ppt/notesSlides/notesSlide12.xml" Id="Rcdd88275525a4d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58bb029134b7d" /><Relationship Type="http://schemas.openxmlformats.org/officeDocument/2006/relationships/notesSlide" Target="/ppt/notesSlides/notesSlide13.xml" Id="R934290fff1e746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241f1c96747e6" /><Relationship Type="http://schemas.openxmlformats.org/officeDocument/2006/relationships/image" Target="/ppt/media/image60.png" Id="R9f7d1d4d58b646a0" /><Relationship Type="http://schemas.openxmlformats.org/officeDocument/2006/relationships/image" Target="/ppt/media/image60.svg" Id="Re896d3bd3bbf4afd" /><Relationship Type="http://schemas.openxmlformats.org/officeDocument/2006/relationships/image" Target="/ppt/media/image61.png" Id="R2767924d92334566" /><Relationship Type="http://schemas.openxmlformats.org/officeDocument/2006/relationships/image" Target="/ppt/media/image61.svg" Id="R261ac8c870114b45" /><Relationship Type="http://schemas.openxmlformats.org/officeDocument/2006/relationships/image" Target="/ppt/media/image62.png" Id="Rd0d0c593155e41e5" /><Relationship Type="http://schemas.openxmlformats.org/officeDocument/2006/relationships/image" Target="/ppt/media/image62.svg" Id="R83370d702d904066" /><Relationship Type="http://schemas.openxmlformats.org/officeDocument/2006/relationships/image" Target="/ppt/media/image63.png" Id="R85b14c0b87b14a58" /><Relationship Type="http://schemas.openxmlformats.org/officeDocument/2006/relationships/image" Target="/ppt/media/image63.svg" Id="R7dd6cb43f1e44d46" /><Relationship Type="http://schemas.openxmlformats.org/officeDocument/2006/relationships/image" Target="/ppt/media/image64.png" Id="R9cabdb459eb246ec" /><Relationship Type="http://schemas.openxmlformats.org/officeDocument/2006/relationships/image" Target="/ppt/media/image64.svg" Id="R7d475dff0d454e0a" /><Relationship Type="http://schemas.openxmlformats.org/officeDocument/2006/relationships/notesSlide" Target="/ppt/notesSlides/notesSlide14.xml" Id="Rce7cfa7db92d4b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a1b572c374dd8" /><Relationship Type="http://schemas.openxmlformats.org/officeDocument/2006/relationships/notesSlide" Target="/ppt/notesSlides/notesSlide15.xml" Id="R83fb4de59d3d4a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a2d36345c4392" /><Relationship Type="http://schemas.openxmlformats.org/officeDocument/2006/relationships/image" Target="/ppt/media/image65.png" Id="Rfb030e242e374459" /><Relationship Type="http://schemas.openxmlformats.org/officeDocument/2006/relationships/image" Target="/ppt/media/image65.svg" Id="R9da11af10e884ba0" /><Relationship Type="http://schemas.openxmlformats.org/officeDocument/2006/relationships/image" Target="/ppt/media/image66.png" Id="R647da25417a042f7" /><Relationship Type="http://schemas.openxmlformats.org/officeDocument/2006/relationships/image" Target="/ppt/media/image66.svg" Id="R9c587201b29440f0" /><Relationship Type="http://schemas.openxmlformats.org/officeDocument/2006/relationships/image" Target="/ppt/media/image67.png" Id="R93d43e59211944f4" /><Relationship Type="http://schemas.openxmlformats.org/officeDocument/2006/relationships/image" Target="/ppt/media/image67.svg" Id="Rd1dca9f7ddd9424f" /><Relationship Type="http://schemas.openxmlformats.org/officeDocument/2006/relationships/image" Target="/ppt/media/image68.png" Id="R5e004f7640fd4084" /><Relationship Type="http://schemas.openxmlformats.org/officeDocument/2006/relationships/image" Target="/ppt/media/image68.svg" Id="R2cc78249a4274d4b" /><Relationship Type="http://schemas.openxmlformats.org/officeDocument/2006/relationships/image" Target="/ppt/media/image69.png" Id="Rb953b54e11234696" /><Relationship Type="http://schemas.openxmlformats.org/officeDocument/2006/relationships/image" Target="/ppt/media/image69.svg" Id="R8c588d86e49e4560" /><Relationship Type="http://schemas.openxmlformats.org/officeDocument/2006/relationships/image" Target="/ppt/media/image70.png" Id="Rcd3b177c8ada47ea" /><Relationship Type="http://schemas.openxmlformats.org/officeDocument/2006/relationships/image" Target="/ppt/media/image70.svg" Id="R40e65c78ec8d4f26" /><Relationship Type="http://schemas.openxmlformats.org/officeDocument/2006/relationships/notesSlide" Target="/ppt/notesSlides/notesSlide16.xml" Id="R23190373c96943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ed0e38fb94735" /><Relationship Type="http://schemas.openxmlformats.org/officeDocument/2006/relationships/image" Target="/ppt/media/image71.png" Id="R55d5ed443bfe4bea" /><Relationship Type="http://schemas.openxmlformats.org/officeDocument/2006/relationships/image" Target="/ppt/media/image71.svg" Id="Rfe9c19721e504a22" /><Relationship Type="http://schemas.openxmlformats.org/officeDocument/2006/relationships/image" Target="/ppt/media/image72.png" Id="R76e3c2b007a841dd" /><Relationship Type="http://schemas.openxmlformats.org/officeDocument/2006/relationships/image" Target="/ppt/media/image72.svg" Id="Rdd2adf4143d14617" /><Relationship Type="http://schemas.openxmlformats.org/officeDocument/2006/relationships/image" Target="/ppt/media/image73.png" Id="Rc6d89caeef4d461b" /><Relationship Type="http://schemas.openxmlformats.org/officeDocument/2006/relationships/image" Target="/ppt/media/image73.svg" Id="Rc2d0d19aa7f74836" /><Relationship Type="http://schemas.openxmlformats.org/officeDocument/2006/relationships/image" Target="/ppt/media/image74.png" Id="Ra67cde2b746b4b3f" /><Relationship Type="http://schemas.openxmlformats.org/officeDocument/2006/relationships/image" Target="/ppt/media/image74.svg" Id="R7e762ebf04904d5f" /><Relationship Type="http://schemas.openxmlformats.org/officeDocument/2006/relationships/image" Target="/ppt/media/image75.png" Id="R7a9b63cdab094b0b" /><Relationship Type="http://schemas.openxmlformats.org/officeDocument/2006/relationships/image" Target="/ppt/media/image75.svg" Id="Rf6bcf27d0d9f48ac" /><Relationship Type="http://schemas.openxmlformats.org/officeDocument/2006/relationships/image" Target="/ppt/media/image76.png" Id="R112aa771ecaa471b" /><Relationship Type="http://schemas.openxmlformats.org/officeDocument/2006/relationships/image" Target="/ppt/media/image76.svg" Id="Rb32f7dfac9ee4560" /><Relationship Type="http://schemas.openxmlformats.org/officeDocument/2006/relationships/notesSlide" Target="/ppt/notesSlides/notesSlide17.xml" Id="R191288eb28e346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5aa6ebb1a47f9" /><Relationship Type="http://schemas.openxmlformats.org/officeDocument/2006/relationships/image" Target="/ppt/media/image77.png" Id="R3335e253379f4bf3" /><Relationship Type="http://schemas.openxmlformats.org/officeDocument/2006/relationships/image" Target="/ppt/media/image77.svg" Id="R319e5edf5f42470e" /><Relationship Type="http://schemas.openxmlformats.org/officeDocument/2006/relationships/image" Target="/ppt/media/image78.png" Id="R81c76b77ef5d4cbf" /><Relationship Type="http://schemas.openxmlformats.org/officeDocument/2006/relationships/image" Target="/ppt/media/image78.svg" Id="R301eccbe8681481c" /><Relationship Type="http://schemas.openxmlformats.org/officeDocument/2006/relationships/image" Target="/ppt/media/image79.png" Id="R6b7b8521849e44b9" /><Relationship Type="http://schemas.openxmlformats.org/officeDocument/2006/relationships/image" Target="/ppt/media/image79.svg" Id="R19c02f427a8d4ed5" /><Relationship Type="http://schemas.openxmlformats.org/officeDocument/2006/relationships/image" Target="/ppt/media/image80.png" Id="R40f8821f90404031" /><Relationship Type="http://schemas.openxmlformats.org/officeDocument/2006/relationships/image" Target="/ppt/media/image80.svg" Id="Rab657f37df024e50" /><Relationship Type="http://schemas.openxmlformats.org/officeDocument/2006/relationships/image" Target="/ppt/media/image81.png" Id="R3fc99b1953c9428a" /><Relationship Type="http://schemas.openxmlformats.org/officeDocument/2006/relationships/image" Target="/ppt/media/image81.svg" Id="R85ea33bee3614a4d" /><Relationship Type="http://schemas.openxmlformats.org/officeDocument/2006/relationships/image" Target="/ppt/media/image82.png" Id="R582be446563645b3" /><Relationship Type="http://schemas.openxmlformats.org/officeDocument/2006/relationships/image" Target="/ppt/media/image82.svg" Id="Reafcb95873464bbc" /><Relationship Type="http://schemas.openxmlformats.org/officeDocument/2006/relationships/image" Target="/ppt/media/image83.png" Id="R4f435c24ecbf4882" /><Relationship Type="http://schemas.openxmlformats.org/officeDocument/2006/relationships/image" Target="/ppt/media/image83.svg" Id="R2e772ede62bf41f5" /><Relationship Type="http://schemas.openxmlformats.org/officeDocument/2006/relationships/image" Target="/ppt/media/image84.png" Id="R58bb6e14ea2a46a1" /><Relationship Type="http://schemas.openxmlformats.org/officeDocument/2006/relationships/image" Target="/ppt/media/image84.svg" Id="R67a77ad57860462b" /><Relationship Type="http://schemas.openxmlformats.org/officeDocument/2006/relationships/notesSlide" Target="/ppt/notesSlides/notesSlide18.xml" Id="R1b7a1621d9c545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cb3d1da2f4848" /><Relationship Type="http://schemas.openxmlformats.org/officeDocument/2006/relationships/image" Target="/ppt/media/image85.png" Id="Raaa26f1ca9af4c62" /><Relationship Type="http://schemas.openxmlformats.org/officeDocument/2006/relationships/image" Target="/ppt/media/image85.svg" Id="Rf50f0aae924f4756" /><Relationship Type="http://schemas.openxmlformats.org/officeDocument/2006/relationships/image" Target="/ppt/media/image86.png" Id="R3b7d9181b9e24b74" /><Relationship Type="http://schemas.openxmlformats.org/officeDocument/2006/relationships/image" Target="/ppt/media/image86.svg" Id="Rf0d88550a55946a9" /><Relationship Type="http://schemas.openxmlformats.org/officeDocument/2006/relationships/image" Target="/ppt/media/image87.png" Id="R118a4a8b40ce463b" /><Relationship Type="http://schemas.openxmlformats.org/officeDocument/2006/relationships/image" Target="/ppt/media/image87.svg" Id="Rfe66983d3db24b3f" /><Relationship Type="http://schemas.openxmlformats.org/officeDocument/2006/relationships/image" Target="/ppt/media/image88.png" Id="R3dc81439d9fe41f4" /><Relationship Type="http://schemas.openxmlformats.org/officeDocument/2006/relationships/image" Target="/ppt/media/image88.svg" Id="R8b638591ace9467e" /><Relationship Type="http://schemas.openxmlformats.org/officeDocument/2006/relationships/image" Target="/ppt/media/image89.png" Id="R0ee6946b3a5d4dc9" /><Relationship Type="http://schemas.openxmlformats.org/officeDocument/2006/relationships/image" Target="/ppt/media/image89.svg" Id="R864aedb9c90940fd" /><Relationship Type="http://schemas.openxmlformats.org/officeDocument/2006/relationships/notesSlide" Target="/ppt/notesSlides/notesSlide19.xml" Id="R12aa8ba22a4a47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22d8d18ad4673" /><Relationship Type="http://schemas.openxmlformats.org/officeDocument/2006/relationships/image" Target="/ppt/media/image90.png" Id="R76cee1c44c1c4933" /><Relationship Type="http://schemas.openxmlformats.org/officeDocument/2006/relationships/image" Target="/ppt/media/image90.svg" Id="R43ab134c910e4a2b" /><Relationship Type="http://schemas.openxmlformats.org/officeDocument/2006/relationships/image" Target="/ppt/media/image91.png" Id="Rae8468af121c459d" /><Relationship Type="http://schemas.openxmlformats.org/officeDocument/2006/relationships/image" Target="/ppt/media/image91.svg" Id="R9d482b24308b452f" /><Relationship Type="http://schemas.openxmlformats.org/officeDocument/2006/relationships/image" Target="/ppt/media/image92.png" Id="Rd61dc166619147a3" /><Relationship Type="http://schemas.openxmlformats.org/officeDocument/2006/relationships/image" Target="/ppt/media/image92.svg" Id="R67f6e32f375e414d" /><Relationship Type="http://schemas.openxmlformats.org/officeDocument/2006/relationships/image" Target="/ppt/media/image93.png" Id="R751b4709e2524f73" /><Relationship Type="http://schemas.openxmlformats.org/officeDocument/2006/relationships/image" Target="/ppt/media/image93.svg" Id="R1ec26e5a86e1430e" /><Relationship Type="http://schemas.openxmlformats.org/officeDocument/2006/relationships/image" Target="/ppt/media/image94.png" Id="Rb84210808e164557" /><Relationship Type="http://schemas.openxmlformats.org/officeDocument/2006/relationships/image" Target="/ppt/media/image94.svg" Id="R5fd96e8cd6d241c2" /><Relationship Type="http://schemas.openxmlformats.org/officeDocument/2006/relationships/notesSlide" Target="/ppt/notesSlides/notesSlide20.xml" Id="R61b72fa208194d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f96da89a34ea8" /><Relationship Type="http://schemas.openxmlformats.org/officeDocument/2006/relationships/image" Target="/ppt/media/image95.png" Id="R8b5fd669ba3f4dd2" /><Relationship Type="http://schemas.openxmlformats.org/officeDocument/2006/relationships/image" Target="/ppt/media/image95.svg" Id="R001ed4af407b4149" /><Relationship Type="http://schemas.openxmlformats.org/officeDocument/2006/relationships/image" Target="/ppt/media/image96.png" Id="Rf2796d60efc5497d" /><Relationship Type="http://schemas.openxmlformats.org/officeDocument/2006/relationships/image" Target="/ppt/media/image96.svg" Id="Rafd0be972e7f437b" /><Relationship Type="http://schemas.openxmlformats.org/officeDocument/2006/relationships/image" Target="/ppt/media/image97.png" Id="R9f2781d372f342f9" /><Relationship Type="http://schemas.openxmlformats.org/officeDocument/2006/relationships/image" Target="/ppt/media/image97.svg" Id="Rcf331339aa2f4400" /><Relationship Type="http://schemas.openxmlformats.org/officeDocument/2006/relationships/image" Target="/ppt/media/image98.png" Id="Rd1573dd7970a4325" /><Relationship Type="http://schemas.openxmlformats.org/officeDocument/2006/relationships/image" Target="/ppt/media/image98.svg" Id="Rfdf8f359f3024a98" /><Relationship Type="http://schemas.openxmlformats.org/officeDocument/2006/relationships/image" Target="/ppt/media/image99.png" Id="R93dfcb223071422e" /><Relationship Type="http://schemas.openxmlformats.org/officeDocument/2006/relationships/image" Target="/ppt/media/image99.svg" Id="R96ce6119ad1347a3" /><Relationship Type="http://schemas.openxmlformats.org/officeDocument/2006/relationships/image" Target="/ppt/media/image100.png" Id="R8ae3bd5e18264357" /><Relationship Type="http://schemas.openxmlformats.org/officeDocument/2006/relationships/image" Target="/ppt/media/image100.svg" Id="R2ed38379d5b0472d" /><Relationship Type="http://schemas.openxmlformats.org/officeDocument/2006/relationships/notesSlide" Target="/ppt/notesSlides/notesSlide21.xml" Id="R7a79e292ca4641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d4023b4de48a6" /><Relationship Type="http://schemas.openxmlformats.org/officeDocument/2006/relationships/image" Target="/ppt/media/image101.png" Id="R96b40dcc99214923" /><Relationship Type="http://schemas.openxmlformats.org/officeDocument/2006/relationships/image" Target="/ppt/media/image101.svg" Id="Rcced84f6c7424772" /><Relationship Type="http://schemas.openxmlformats.org/officeDocument/2006/relationships/image" Target="/ppt/media/image102.png" Id="R9c53c90e9dd24747" /><Relationship Type="http://schemas.openxmlformats.org/officeDocument/2006/relationships/image" Target="/ppt/media/image102.svg" Id="R121365fa21654278" /><Relationship Type="http://schemas.openxmlformats.org/officeDocument/2006/relationships/image" Target="/ppt/media/image103.png" Id="Rc8398d413b214bf1" /><Relationship Type="http://schemas.openxmlformats.org/officeDocument/2006/relationships/image" Target="/ppt/media/image103.svg" Id="Rb692fc27652748a7" /><Relationship Type="http://schemas.openxmlformats.org/officeDocument/2006/relationships/notesSlide" Target="/ppt/notesSlides/notesSlide22.xml" Id="Rd6e55bdd2b6d48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9A4A89-ABAC-4EDB-A343-F0C00B66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"/>
            <a:ext cx="4572000" cy="5943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43EB0-5672-472C-AB65-50A0A870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9BB6A-2018-454E-948A-2752F90E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19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13D7C-8969-4E73-95C6-058EF23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1811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0D4DF-2C07-439D-8B5F-D23EA411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43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711CB-CB74-40B9-B4DB-AE7A4BEB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223d915644aa8">
            <a:extLst>
              <a:ext uri="{96DAC541-7B7A-43D3-8B79-37D633B846F1}">
                <asvg:svgBlip xmlns:asvg="http://schemas.microsoft.com/office/drawing/2016/SVG/main" r:embed="R276b302661ec41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14478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67B56-3CFC-4976-B604-464C8686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Sentinel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B2FDF-4799-4C9C-ACAD-5FC5A12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AI-Powered Industrial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FDDBE-BFBE-4994-BF1E-E6F7901B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 full-stack industrial operations platform that combines live monitoring, rule-based risk scoring, knowledge graph reasoning, and a grounded AI copilot.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03C87-024C-441E-A62A-A71D7CBF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A9D2D-4B13-4245-ADB6-B4B8FADC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7D07C-518D-4AE4-8C53-4C0B7768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API endpoints discovered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FA1CE-D0D8-423B-9AD7-1B36E37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083F5-3EDE-4873-8D19-D953E429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48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23398-48C8-461C-963A-B14BE79A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14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Role-aware frontend workspaces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B8E9D-F4AA-47E4-94C0-FE16402D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3390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6D806-B3E8-47A7-9EC1-E72E9DB7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48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C2F09-5076-489D-8BB7-A15588BC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Dataset groups in 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CD0AF-A91C-42D7-A235-9DA2A10C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51625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55A25-88DD-4857-B143-48494178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Team Details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AD99A-1ACE-40D4-B54D-D94BC2A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A0B7"/>
                </a:solidFill>
                <a:latin typeface="Aptos"/>
                <a:ea typeface="Aptos"/>
                <a:cs typeface="Aptos"/>
              </a:rPr>
              <a:t>Add names, roles, and contact details here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6FA8C-2577-4B5F-92BE-A7A9694A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9144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Why this project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B1140-67EC-44D8-9488-4E2F443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37338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69DEF-701B-41F5-8E51-A5B2BB5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859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c600d17584b16">
            <a:extLst>
              <a:ext uri="{96DAC541-7B7A-43D3-8B79-37D633B846F1}">
                <asvg:svgBlip xmlns:asvg="http://schemas.microsoft.com/office/drawing/2016/SVG/main" r:embed="R4358e68fec064d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72350" y="15430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ABD2A-525E-45BC-A10F-01572E71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8590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Operational visibility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4BCAA-A56B-4E41-A9FD-F915F356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Dashboards, entity modules, alerts, and live risk feeds bring plant state into one console.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A573D-AEF5-4DCB-9494-DA509DA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33650"/>
            <a:ext cx="37338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C216E2-E565-48CC-B6AF-39BF2FDA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7eba70c98426e">
            <a:extLst>
              <a:ext uri="{96DAC541-7B7A-43D3-8B79-37D633B846F1}">
                <asvg:svgBlip xmlns:asvg="http://schemas.microsoft.com/office/drawing/2016/SVG/main" r:embed="Re2eab3bb9a4b45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72350" y="2743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2F1D8C-A0B0-4589-8598-75AB2221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Decision intelligence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FEAA72-B951-4B94-946F-EB8AB616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Rule engine, similarity search, and knowledge graph analysis turn signals into explainable risk context.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9E0D78-F199-48F8-AA8E-85CBCC0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33800"/>
            <a:ext cx="37338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A0389B-24B4-4549-B0E1-74C452BA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4a0eb899343fb">
            <a:extLst>
              <a:ext uri="{96DAC541-7B7A-43D3-8B79-37D633B846F1}">
                <asvg:svgBlip xmlns:asvg="http://schemas.microsoft.com/office/drawing/2016/SVG/main" r:embed="Rbcfbfb1c5ea846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72350" y="39433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92D2A5-2384-49AC-89B6-63245E80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8620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Grounded AI guidance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16BBEF-E6D9-40AD-A205-BA94FDDC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481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copilot pulls citations from indexed content and blends them with live operational evidence before invoking Gemini.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0F1E9-232B-4C32-8094-BD2F336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37338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97F78-F771-49C0-A7AA-A70216F7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86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ad0429c8e4c30">
            <a:extLst>
              <a:ext uri="{96DAC541-7B7A-43D3-8B79-37D633B846F1}">
                <asvg:svgBlip xmlns:asvg="http://schemas.microsoft.com/office/drawing/2016/SVG/main" r:embed="R14896705b84c4f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72350" y="51435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259134-3DA4-4651-8B8B-72B108D6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Enterprise-ready backend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709CC5-177C-4FD1-818F-716C4C61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483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FastAPI, async SQLAlchemy, Alembic migrations, PostgreSQL support, and JWT authentication back the product surface.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714BF4-7BD5-4F81-B688-7E2A778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6740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A0B7"/>
                </a:solidFill>
                <a:latin typeface="Aptos"/>
                <a:ea typeface="Aptos"/>
                <a:cs typeface="Aptos"/>
              </a:rPr>
              <a:t>Source analyzed from committed repository content</a:t>
            </a:r>
          </a:p>
        </p:txBody>
      </p:sp>
    </p:spTree>
    <p:extLst>
      <p:ext uri="{BB962C8B-B14F-4D97-AF65-F5344CB8AC3E}">
        <p14:creationId xmlns:p14="http://schemas.microsoft.com/office/powerpoint/2010/main" val="2147472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408021-0AD9-4FD9-BAAA-EEC444F3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33089-FFC9-4F11-B810-684EAAA4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0EC0B-536B-4488-AE04-C4E45356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09F50-3E16-42BA-88FD-0E021AD3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C8FCB-8E1D-41E0-A295-A2D5A88E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DF3A4-3126-4014-8019-0247BB1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Industrial safety teams need context, not disconnected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B481E-6326-4101-83AB-311DA2C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codebase is built around plants, zones, equipment, sensors, workers, permits, maintenance, incidents, and risk events because isolated signals are not enough.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CFC2F-1188-4A88-843C-EEBF7DC4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CB803-3E3D-4846-BFE4-69A08809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CEB05-AC93-40C2-AE09-1F9CFDD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4859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0B1AA-F58A-47A2-9517-2EC7C153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5bda89cec41a6">
            <a:extLst>
              <a:ext uri="{96DAC541-7B7A-43D3-8B79-37D633B846F1}">
                <asvg:svgBlip xmlns:asvg="http://schemas.microsoft.com/office/drawing/2016/SVG/main" r:embed="Rdc293ba8fb3e48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57350" y="2724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7847F-1BE5-41E3-A9F1-924C9663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Sensor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69BB2-B23E-4D8F-BD66-8399B3E6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4859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2AEFE-7B89-43B9-8D64-2FC3F058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77684d0094b54">
            <a:extLst>
              <a:ext uri="{96DAC541-7B7A-43D3-8B79-37D633B846F1}">
                <asvg:svgBlip xmlns:asvg="http://schemas.microsoft.com/office/drawing/2016/SVG/main" r:embed="Rb8b2ba1c462c4f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76650" y="2724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55948-19AC-48B5-BB46-F17BB461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Equipment health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8D430-2906-4BAE-B369-38A66884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4859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DC709-9A4E-416D-BF79-CF0909A0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e988f7b164a48">
            <a:extLst>
              <a:ext uri="{96DAC541-7B7A-43D3-8B79-37D633B846F1}">
                <asvg:svgBlip xmlns:asvg="http://schemas.microsoft.com/office/drawing/2016/SVG/main" r:embed="R8c85b29183fd4a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2724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E1C62-407D-4961-A218-87BBBF1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Worker exposure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1B29A-3162-4C4E-AA46-689BCB13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14859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AD00F-0450-439F-9361-0B26FADB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24ff4f2994f19">
            <a:extLst>
              <a:ext uri="{96DAC541-7B7A-43D3-8B79-37D633B846F1}">
                <asvg:svgBlip xmlns:asvg="http://schemas.microsoft.com/office/drawing/2016/SVG/main" r:embed="Rcefdae8f6b054d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0" y="2724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9F4F8-6BE2-471D-84D8-E16189BE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Permit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4729D-6444-488E-A624-97C6D87B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14859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0146E5-A59F-45F8-B0C5-D1CF1B24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71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2c5ad95d9457f">
            <a:extLst>
              <a:ext uri="{96DAC541-7B7A-43D3-8B79-37D633B846F1}">
                <asvg:svgBlip xmlns:asvg="http://schemas.microsoft.com/office/drawing/2016/SVG/main" r:embed="R741e4a8a619542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34550" y="2724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0765E-5EC6-479A-BA70-F9B4035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Incident memory</a:t>
            </a:r>
          </a:p>
        </p:txBody>
      </p:sp>
      <p:cxnSp>
        <p:nvCxnSpPr>
          <p:cNvPr id="7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51460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53390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55320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4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57250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F56AA-5F74-4ADC-B998-B8A1FC90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A62B4A-ECAB-4637-98AA-3C1909A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What the source code tells 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26869-AA58-4EC1-890A-F7F36FE6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143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139944-FB4F-47E3-AE8E-EE5F062F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The repository models every major operational safety entity, which implies that risk emerges from relationships, not single readings.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6DAC70-552C-43F7-AAE7-AEC6F99F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72050"/>
            <a:ext cx="3143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CA4499-6EAC-49A0-AF5D-458EDE6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4350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The frontend ships dedicated workspaces for dashboarding, risk, incidents, permits, maintenance, compliance, notifications, and AI assistance.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080FF6-89A2-4E19-98C9-6C557494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72050"/>
            <a:ext cx="3143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BC1094-2217-47F9-A02A-57727151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The backend includes graph, risk, analytics, and copilot routes because decision speed depends on unified context.</a:t>
            </a:r>
          </a:p>
        </p:txBody>
      </p:sp>
    </p:spTree>
    <p:extLst>
      <p:ext uri="{BB962C8B-B14F-4D97-AF65-F5344CB8AC3E}">
        <p14:creationId xmlns:p14="http://schemas.microsoft.com/office/powerpoint/2010/main" val="416813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871CE-249B-42BA-810B-3BBE68B4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B39D2-A379-4D34-B908-D8F4120C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F0D34-F75F-41DF-9E90-7E1D6E1E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534F4-0007-41C6-838C-11FBEDD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61A23-7BCD-488E-8FA4-856F929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PAIN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A502B-147E-46D7-BD43-E90C044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Existing workflows create blind spots and slow response loops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0B068-4244-4C58-9039-595F76ED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product structure suggests the team is solving repeated operational gaps across monitoring, triage, coordination, explainability, and compliance.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5ECF5-EC00-436A-ADF1-4479AADC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68B82-E7D4-4ECD-8ADE-3EF0C951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06EC1-F97D-491F-8FC2-6BF6221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959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BEE9C-95D8-4924-B0E9-4BEAD4EC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eb8b7d1a14b9c">
            <a:extLst>
              <a:ext uri="{96DAC541-7B7A-43D3-8B79-37D633B846F1}">
                <asvg:svgBlip xmlns:asvg="http://schemas.microsoft.com/office/drawing/2016/SVG/main" r:embed="Rb39b30f5223443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266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497BC-5583-4D0D-9869-14481BD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Operational data lives in silos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B9294-4D49-4410-AC57-51588D41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Sensors, equipment, workers, permits, and incidents are modeled separately, which means a team needs orchestration to reason across them in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A2209-30E6-4557-BCD2-8F87BC2A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52959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84D1A-C5D2-4793-B461-4E85DCFD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97f4bb6c54127">
            <a:extLst>
              <a:ext uri="{96DAC541-7B7A-43D3-8B79-37D633B846F1}">
                <asvg:svgBlip xmlns:asvg="http://schemas.microsoft.com/office/drawing/2016/SVG/main" r:embed="Rb8c793d887a84e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2266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5619F-14F6-4E2E-8A2F-599D4968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Response often starts after escalation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A1D89-4F63-4365-8EA2-1089AE4F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presence of risk history, live risk feeds, and simulation flows points to a need for earlier detection rather than post-incident reporting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315F9-3932-4C85-9A30-C695C54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959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4853B-BE0C-4BDC-9A70-B146F7F6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e5dd1689429e">
            <a:extLst>
              <a:ext uri="{96DAC541-7B7A-43D3-8B79-37D633B846F1}">
                <asvg:svgBlip xmlns:asvg="http://schemas.microsoft.com/office/drawing/2016/SVG/main" r:embed="Reb19ae65f36440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4191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3EA47-2422-4253-B3B2-04A00591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Compliance evidence is expensive to assemble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47F25-3D6C-4B8F-849D-C272CFE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Compliance reports depend on open incidents, overdue maintenance, and live risks, so manual reporting would be fragmented and slow.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6DF242-9B14-44E1-A2E3-8E6A2FA1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52959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B5E3D-66B7-4E33-ABE5-CBC1393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2a11c43f0431e">
            <a:extLst>
              <a:ext uri="{96DAC541-7B7A-43D3-8B79-37D633B846F1}">
                <asvg:svgBlip xmlns:asvg="http://schemas.microsoft.com/office/drawing/2016/SVG/main" r:embed="R2fcb8615c9b74e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4191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DD0EA-1BC4-4648-ADD2-AE93A72E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Generic AI is not enough for plant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588DD-AAA4-4FF5-B985-6D28A29E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copilot schema expects citations, regulations, recommendations, and retrieved documents, which means answers must be grounded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170670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2A0A00-DB3D-4D8C-8EBD-D4E52B4C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BF497-3096-43BB-92E1-F74ACD6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F69BF-7565-42FB-8D08-083563B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DA6C7-B240-4C2D-B79F-1E650675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FB59A-A415-4558-8765-AE37B72A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A5E12-E8D3-4D20-A0C4-9D91CCA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Sentinel AI unifies monitoring, reasoning, and guided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D11AD-67F2-4A58-B272-016EDD75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codebase combines a role-aware frontend, a domain-rich FastAPI backend, a rule and graph intelligence layer, and a citation-based AI assistant.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1DA8E-CA1C-4E62-8DC7-BAC3C00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12321-E798-403E-8427-A9756A45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9878D-B839-424C-87A1-89E6172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914650" cy="253365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1641F-8EAB-49BD-A329-EC0F5BDF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c3d7e283e4744">
            <a:extLst>
              <a:ext uri="{96DAC541-7B7A-43D3-8B79-37D633B846F1}">
                <asvg:svgBlip xmlns:asvg="http://schemas.microsoft.com/office/drawing/2016/SVG/main" r:embed="R436b6c047d4747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" y="2505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D2803-FAA5-4536-9225-F72CD4A6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95550"/>
            <a:ext cx="12573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62C60-EC9B-4625-B2E4-EB99864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527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Frontend workspaces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CCE98-7E8E-4D06-944F-A58B58EF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Monitor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07A3A-BFCE-4F89-B333-51AAC3BA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495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Dashboards, maps, notifications, entity modules, and analytics keep plant state visible.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E51B8-4DD9-4C5E-8A65-4C62013F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2914650" cy="253365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E3DFE-4774-40D0-B7DF-B1577B38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6220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24d9c26124829">
            <a:extLst>
              <a:ext uri="{96DAC541-7B7A-43D3-8B79-37D633B846F1}">
                <asvg:svgBlip xmlns:asvg="http://schemas.microsoft.com/office/drawing/2016/SVG/main" r:embed="R2008061ae28047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81475" y="2505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CC7B0-AEBF-4EFA-AA24-CFF928BC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12573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415FB-D689-46B1-8E4F-3A8921F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Backend 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DE647-34A4-46AA-8050-1CD31E00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9762F-DC02-4AC7-ABBF-7D8FD510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86150"/>
            <a:ext cx="2495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Risk scoring, explainability, historical similarity, and graph traversal convert signals into context.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D39DF-062F-4EE3-9C1F-D040196A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2914650" cy="253365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B36E4-110E-4941-B701-9DDE4A82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fd92d44ab4aca">
            <a:extLst>
              <a:ext uri="{96DAC541-7B7A-43D3-8B79-37D633B846F1}">
                <asvg:svgBlip xmlns:asvg="http://schemas.microsoft.com/office/drawing/2016/SVG/main" r:embed="Rf7d75fafc4ba4a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24725" y="2505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C1608-C0AD-46CC-B45F-4A88E3CC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12573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C6536-5DE7-4C25-A73B-643B5D04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Grounded AI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15B05-795E-44EC-A0F1-9A18547C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Guide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9615A2-0DB8-459A-B365-461A30D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2495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copilot blends retrieved documents, live risks, incidents, and regulations before generating action-oriented answers.</a:t>
            </a:r>
          </a:p>
        </p:txBody>
      </p: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00450" y="3438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743700" y="3438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B24E3-6DD8-47AC-84B3-BF3B63A0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6DFF75-0B56-44E7-8CEA-21ACEBC9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result is not just visibility. It is a decision layer that can explain risk, surface relevant history, and suggest next actions.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8DD46-E509-4DDA-A662-4B04FD9D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6FB"/>
                </a:solidFill>
                <a:latin typeface="Aptos"/>
                <a:ea typeface="Aptos"/>
                <a:cs typeface="Aptos"/>
              </a:rPr>
              <a:t>That is the core value proposition implied by the backend services, schemas, and frontend workspaces.</a:t>
            </a:r>
          </a:p>
        </p:txBody>
      </p:sp>
    </p:spTree>
    <p:extLst>
      <p:ext uri="{BB962C8B-B14F-4D97-AF65-F5344CB8AC3E}">
        <p14:creationId xmlns:p14="http://schemas.microsoft.com/office/powerpoint/2010/main" val="1932225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B55DD8-99F7-446D-9183-317831B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2A370-7FA5-4114-A19E-A1AC384E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A56B6-39B9-48A5-AFAC-1C8F4E48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9F749-0DE2-4A91-8FCD-DEAAB05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9CE46-FD30-4A87-87DA-6F198C6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418EC-E4E7-4AEB-A89D-B477F77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platform objectives align operations, prediction, and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1FC0F-6011-44B0-BF92-5F4C4DCF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These objectives are derived from the service layer, route surface, and frontend workflows present in the repository.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1D59A-2917-42B6-A974-B97B61AA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2629C-F110-4B6E-B674-844BD02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15CB2-CFF0-4FE0-9DB8-123161C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959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93A88-3CBF-4AB0-BBAD-FD7EAA34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ede0cd620478b">
            <a:extLst>
              <a:ext uri="{96DAC541-7B7A-43D3-8B79-37D633B846F1}">
                <asvg:svgBlip xmlns:asvg="http://schemas.microsoft.com/office/drawing/2016/SVG/main" r:embed="R9c38291607d24b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324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9192D-076B-41A0-BEB3-5C3C5F49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Detect risk earlier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B6F48-3F21-4AE2-A91A-B40341BE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Combine live conditions, maintenance state, permits, workers, and weather-related context before a serious incident occurs.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E67C4-214B-4433-95EC-7DA20E4B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52959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6D27A-6D19-449A-86A3-3894D12B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fa9ca81254301">
            <a:extLst>
              <a:ext uri="{96DAC541-7B7A-43D3-8B79-37D633B846F1}">
                <asvg:svgBlip xmlns:asvg="http://schemas.microsoft.com/office/drawing/2016/SVG/main" r:embed="R9f2a19fd41f040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2324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90A56-0142-4998-8E6D-86280ADC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Prioritize the right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171FD-B830-4FDE-B225-0C1165CF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Convert risk signals into severity, confidence, explanations, and recommendations that teams can act on immediately.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10DC3-8A28-4419-AB30-08648FF5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959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C9257-E907-448E-BB09-BCA46102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c4c2712364215">
            <a:extLst>
              <a:ext uri="{96DAC541-7B7A-43D3-8B79-37D633B846F1}">
                <asvg:svgBlip xmlns:asvg="http://schemas.microsoft.com/office/drawing/2016/SVG/main" r:embed="R232a137b4f064e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4191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38B9D-1966-4919-AB38-83C56CC1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Preserve operational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4E38A6-70E7-4109-8A26-4CE45DBD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Use graph relationships, incident history, and structured entity data to keep recommendations grounded in plant reality.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4B2CE-14BC-4ECE-8781-EFF81104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52959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6EC5F-13E5-4122-9194-86B31DC5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125344c6d48b1">
            <a:extLst>
              <a:ext uri="{96DAC541-7B7A-43D3-8B79-37D633B846F1}">
                <asvg:svgBlip xmlns:asvg="http://schemas.microsoft.com/office/drawing/2016/SVG/main" r:embed="R8010a36d457641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4191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12BE3-8F08-42B3-B330-E8397EBC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Make AI answers traceable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DBD64B-3C07-4A94-A183-FCE7EAEA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Return citations, regulations, retrieved documents, and saved conversation history instead of opaque text output.</a:t>
            </a:r>
          </a:p>
        </p:txBody>
      </p:sp>
    </p:spTree>
    <p:extLst>
      <p:ext uri="{BB962C8B-B14F-4D97-AF65-F5344CB8AC3E}">
        <p14:creationId xmlns:p14="http://schemas.microsoft.com/office/powerpoint/2010/main" val="1904887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5E1F24-7ADB-4591-95C0-D974D8D4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28761-4E17-40F4-870E-B29979BB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FE97D-93A3-4835-B7A2-27F8611A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6C26F-90CB-4CC9-94CF-4D9839AE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52B9C-A807-4D49-A92D-731C4F0A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1F534-256A-4ADD-A081-9E2C1772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codebase already spans a full operations command center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FF56E-9291-4434-924C-096A280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Navigation items, route groups, and services indicate a broad feature footprint across plant operations, AI, and compliance.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14665-9F28-48C4-962E-F30E2F1D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C2B43-5F0E-4B6D-9F50-D0148A7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C7D29-BB85-484E-AF27-E0C2653C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86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06C24-16C2-4F67-9D2A-7C0397D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666f395814b63">
            <a:extLst>
              <a:ext uri="{96DAC541-7B7A-43D3-8B79-37D633B846F1}">
                <asvg:svgBlip xmlns:asvg="http://schemas.microsoft.com/office/drawing/2016/SVG/main" r:embed="R66413e0923c048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228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67ECB-A19B-41FB-8C80-7F903F19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Live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80E37-4D6E-43C8-9D36-12F57C07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Mission control, alerts, recommendations, incidents, and operational KPIs.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B05E0-790D-4A5E-BFE3-9E29882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486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2D6B0-EB61-426F-87D1-A5997134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7da4c59b14f4c">
            <a:extLst>
              <a:ext uri="{96DAC541-7B7A-43D3-8B79-37D633B846F1}">
                <asvg:svgBlip xmlns:asvg="http://schemas.microsoft.com/office/drawing/2016/SVG/main" r:embed="Rd70413d97c5e43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2228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18EB6-4083-4181-BAC1-1A92CDB5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Risk center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E2184-FB24-405D-8195-D101397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Risk analysis, history, live feed, confidence, explainability, and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21414-0D9B-4836-8FB6-C09C7DDF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486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B488F-8876-4E6A-A051-CF4FDEC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bcad3c8264f60">
            <a:extLst>
              <a:ext uri="{96DAC541-7B7A-43D3-8B79-37D633B846F1}">
                <asvg:svgBlip xmlns:asvg="http://schemas.microsoft.com/office/drawing/2016/SVG/main" r:embed="Rcfe2ef1ae84a41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2228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BE726-7A74-4EBC-83FC-76481C8E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Knowledge 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114AD-48D0-4C37-B486-CBB5323E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Overview, node detail, neighbors, path tracing, and impact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321E5-94D6-434E-8E4B-4B982F1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486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46830-E20E-4BCB-92DD-93DDEA4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18467f93c4659">
            <a:extLst>
              <a:ext uri="{96DAC541-7B7A-43D3-8B79-37D633B846F1}">
                <asvg:svgBlip xmlns:asvg="http://schemas.microsoft.com/office/drawing/2016/SVG/main" r:embed="Ra939c386d57247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810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4D66C-A78B-4C0C-A232-7F38FDC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AI copilot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8A3AD-0C65-4DDF-B879-6C3F57C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Grounded chat with citations, regulations, retrieved documents, and memory.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63C897-91E7-44C5-B64C-B9C4573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3486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E15222-0EE7-4AAE-A3A5-335B671B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a057f29aa431b">
            <a:extLst>
              <a:ext uri="{96DAC541-7B7A-43D3-8B79-37D633B846F1}">
                <asvg:svgBlip xmlns:asvg="http://schemas.microsoft.com/office/drawing/2016/SVG/main" r:embed="Ra55fcf7f60754b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3810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DC2F0-D41A-45DB-AB81-17A4F0EF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Operational modules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70DF85-CE7E-4E1E-B906-DDC721E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Plants, zones, equipment, workers, permits, maintenance, incidents, and sensors.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74EFE7-8DC3-4BD6-9606-739AAE4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3486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4874BA-1A68-44D2-8996-8C5CB0D9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d6aa6ed9642d9">
            <a:extLst>
              <a:ext uri="{96DAC541-7B7A-43D3-8B79-37D633B846F1}">
                <asvg:svgBlip xmlns:asvg="http://schemas.microsoft.com/office/drawing/2016/SVG/main" r:embed="R7379b5fdbe1a4c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3810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AC33BD-94EA-4F93-BA26-B251FDC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Compliance and simulation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6507E5-59D2-4A7D-8CF2-35E1D9B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Compliance report generation plus scenario-based safety simulation workflows.</a:t>
            </a:r>
          </a:p>
        </p:txBody>
      </p:sp>
    </p:spTree>
    <p:extLst>
      <p:ext uri="{BB962C8B-B14F-4D97-AF65-F5344CB8AC3E}">
        <p14:creationId xmlns:p14="http://schemas.microsoft.com/office/powerpoint/2010/main" val="1294599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377A58-04CB-4733-A52A-A2C7FB3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3294A-9855-4FC2-8972-886E8EBD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171B5-D514-4A1F-938C-9A56AB5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F84E3-556F-458A-B4D6-ADA22CB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1B0A6-2333-498B-91DF-3EFB3F0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1D068-18AA-470F-9543-FE3A9351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System architecture links browser workflows, backend intelligence, and external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BD925-44EE-434A-9B8C-8E4C00E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Derived from committed frontend, backend, data model, AI modules, and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89280-95A4-4D6E-AD9F-2C2422B7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FB6AC-FE7D-4798-9BF1-D15BA03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F32AE-0B70-4CC9-ACEC-A07E847A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61925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3f00e3f1d49ea">
            <a:extLst>
              <a:ext uri="{96DAC541-7B7A-43D3-8B79-37D633B846F1}">
                <asvg:svgBlip xmlns:asvg="http://schemas.microsoft.com/office/drawing/2016/SVG/main" r:embed="R60db7fb5ea5c44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66850" y="2647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2C8CE-51F5-41B5-8F37-FF1FFC4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Users and browsers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0280B-980B-405F-A59F-CBA23EBB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A0B7"/>
                </a:solidFill>
                <a:latin typeface="Aptos"/>
                <a:ea typeface="Aptos"/>
                <a:cs typeface="Aptos"/>
              </a:rPr>
              <a:t>Operators, managers, safety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91467-2109-4E84-9C8A-969825B6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2419350" cy="23622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c3f3d80424e44">
            <a:extLst>
              <a:ext uri="{96DAC541-7B7A-43D3-8B79-37D633B846F1}">
                <asvg:svgBlip xmlns:asvg="http://schemas.microsoft.com/office/drawing/2016/SVG/main" r:embed="Rf2c2a5225e3b42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38500" y="2095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41469-71E1-4E53-A621-03D18989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Next.js 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F5B9A-2B8B-4F5F-8375-72E6B21E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1847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App Router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Protected layout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Auth provider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React Query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Axios client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Role-aware workspaces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E8C87-9769-4F93-B00D-3AA9DD99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52850"/>
            <a:ext cx="1790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8E8CF-680C-45AB-9A0B-F0A8A0D4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1600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14 workspaces in navigation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94E19-2AE7-4283-835A-6D96C0D2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00150"/>
            <a:ext cx="3409950" cy="371475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3111c187e46cc">
            <a:extLst>
              <a:ext uri="{96DAC541-7B7A-43D3-8B79-37D633B846F1}">
                <asvg:svgBlip xmlns:asvg="http://schemas.microsoft.com/office/drawing/2016/SVG/main" r:embed="Rb3133cb906b74a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72200" y="1447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D64F2-5B24-4027-AFD5-C69AC410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FastAPI 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47D91-AC97-4F44-909A-7A2AAF77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A0B7"/>
                </a:solidFill>
                <a:latin typeface="Aptos"/>
                <a:ea typeface="Aptos"/>
                <a:cs typeface="Aptos"/>
              </a:rPr>
              <a:t>82 discovered endpoints under /api/v1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F4A79-50F1-4DFB-9E69-815C256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123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d660424d94f14">
            <a:extLst>
              <a:ext uri="{96DAC541-7B7A-43D3-8B79-37D633B846F1}">
                <asvg:svgBlip xmlns:asvg="http://schemas.microsoft.com/office/drawing/2016/SVG/main" r:embed="R4e2d84df2b6f47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05550" y="2286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92CE7-64B9-4DAD-B3E4-B08CEF17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Auth and CRUD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38E73-4E04-45BB-A9E9-5F9A5FAB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123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47476bc154cdb">
            <a:extLst>
              <a:ext uri="{96DAC541-7B7A-43D3-8B79-37D633B846F1}">
                <asvg:svgBlip xmlns:asvg="http://schemas.microsoft.com/office/drawing/2016/SVG/main" r:embed="R91a41ae7adf141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91450" y="2286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E2559-E06B-48D2-867B-8EF9221B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Risk and analytics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8723CD-E448-4D10-A956-49B01AB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123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e45f926814ef0">
            <a:extLst>
              <a:ext uri="{96DAC541-7B7A-43D3-8B79-37D633B846F1}">
                <asvg:svgBlip xmlns:asvg="http://schemas.microsoft.com/office/drawing/2016/SVG/main" r:embed="R275194bcb44241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05550" y="3200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25BBA1-934E-4BF0-872A-5084F3CD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Graph and simulation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DEA492-277F-4D32-800D-630D7AA8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123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bfa2685c54a94">
            <a:extLst>
              <a:ext uri="{96DAC541-7B7A-43D3-8B79-37D633B846F1}">
                <asvg:svgBlip xmlns:asvg="http://schemas.microsoft.com/office/drawing/2016/SVG/main" r:embed="R76e23e61b5f94c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91450" y="3200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E289BB-46D1-40CB-84D1-EA3B3F50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0400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Copilot and RAG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917C8A-1210-4A0B-B0C1-DE7531A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2800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Core modules in code: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api, services, risk_engine, rag, vector_store, knowledge_graph, repositories, schemas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86D3EF-1A36-476E-8E3B-FA76A8B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23950"/>
            <a:ext cx="18478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60abed0144ec4">
            <a:extLst>
              <a:ext uri="{96DAC541-7B7A-43D3-8B79-37D633B846F1}">
                <asvg:svgBlip xmlns:asvg="http://schemas.microsoft.com/office/drawing/2016/SVG/main" r:embed="Ra566424c02b445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1371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AECA66-D2CF-41A9-9003-0D9C9457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3335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AA450D-B9E7-4BD5-889C-61A6000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383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PostgreSQL support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SQLite fallback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E14409-5BEE-4E5E-91AF-1C08EB44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18478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717534b15462c">
            <a:extLst>
              <a:ext uri="{96DAC541-7B7A-43D3-8B79-37D633B846F1}">
                <asvg:svgBlip xmlns:asvg="http://schemas.microsoft.com/office/drawing/2016/SVG/main" r:embed="R9af22fa93f6746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2724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93F04B-E4C2-4A9F-B999-B8E920BC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860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RAG store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FFA3BC-18F3-4CDF-B646-1CA6E62E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0990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FAISS index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Embeddings and metadata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AC67C3-0B52-49EE-874B-035D069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18478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6305d6331489c">
            <a:extLst>
              <a:ext uri="{96DAC541-7B7A-43D3-8B79-37D633B846F1}">
                <asvg:svgBlip xmlns:asvg="http://schemas.microsoft.com/office/drawing/2016/SVG/main" r:embed="R3b00b62534b346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4057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8FB2AD-2BAF-4CAE-BE5E-703D9054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19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7FD500-33AE-4BFB-AA40-E1189077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4340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TEdata</a:t>
            </a:r>
          </a:p>
          <a:p xmlns:a="http://schemas.openxmlformats.org/drawingml/2006/main">
            <a:pPr algn="l">
              <a:defRPr sz="82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ai4i</a:t>
            </a:r>
          </a:p>
          <a:p xmlns:a="http://schemas.openxmlformats.org/drawingml/2006/main">
            <a:pPr algn="l">
              <a:defRPr sz="82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generated</a:t>
            </a:r>
          </a:p>
          <a:p xmlns:a="http://schemas.openxmlformats.org/drawingml/2006/main">
            <a:pPr algn="l">
              <a:defRPr sz="82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osha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3DF47D-E44D-4259-B7CB-683A6B80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81600"/>
            <a:ext cx="18478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ee9b6e9e046ef">
            <a:extLst>
              <a:ext uri="{96DAC541-7B7A-43D3-8B79-37D633B846F1}">
                <asvg:svgBlip xmlns:asvg="http://schemas.microsoft.com/office/drawing/2016/SVG/main" r:embed="R00c854859eba4f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54102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679B13-1162-4933-BD16-5CADE94D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911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Gemini API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F66204-BBA0-45E5-AEB9-26BEDEA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57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Prompted from backend service</a:t>
            </a:r>
          </a:p>
        </p:txBody>
      </p:sp>
      <p:cxnSp>
        <p:nvCxnSpPr>
          <p:cNvPr id="11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419350" y="3019425"/>
            <a:ext cx="5905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112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429250" y="3048000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113" name=""/>
          <p:cNvCxnSpPr>
            <a:stCxn xmlns:a="http://schemas.openxmlformats.org/drawingml/2006/main" id="20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9315450" y="1695450"/>
            <a:ext cx="34290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114" name=""/>
          <p:cNvCxnSpPr>
            <a:stCxn xmlns:a="http://schemas.openxmlformats.org/drawingml/2006/main" id="2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315450" y="30575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115" name=""/>
          <p:cNvCxnSpPr>
            <a:stCxn xmlns:a="http://schemas.openxmlformats.org/drawingml/2006/main" id="20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9315450" y="3057525"/>
            <a:ext cx="3429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116" name=""/>
          <p:cNvCxnSpPr>
            <a:stCxn xmlns:a="http://schemas.openxmlformats.org/drawingml/2006/main" id="20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9315450" y="3057525"/>
            <a:ext cx="342900" cy="2581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86896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0F388C-D20A-4EDA-8A6F-4B2D078F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7EB65-0BAE-45FE-B21E-F7CA732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E347B-609F-40F7-8A6F-60BA443C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271F9-C3EE-4122-8272-3C4E2BB8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EBD2B-7C65-4E24-A698-64DABCD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D7F32-8416-4E9B-86E3-4573E616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Stack choices are pragmatic for fast iteration and AI-heavy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5F1B8-18D0-42A7-BAE0-9937FB3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repository favors a modern TypeScript frontend, Python backend services, and explicit AI modules over opaque platform abstractions.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FA791-0593-4698-8617-66AC4FAA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D82EE-8AD5-4FBE-B257-FD3DFFB5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5859F-48A7-46C3-80E5-46DDD295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4861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5F50D-16EC-454D-97A4-A5C9B5F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cbf3b6f8543d6">
            <a:extLst>
              <a:ext uri="{96DAC541-7B7A-43D3-8B79-37D633B846F1}">
                <asvg:svgBlip xmlns:asvg="http://schemas.microsoft.com/office/drawing/2016/SVG/main" r:embed="R0bbaf798dadf48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247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31E45-AB74-432A-8D57-B5E3EBA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CDE7B-E222-4437-9DD7-66C1E37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Next.js 15, React 19, Tailwind CSS, React Query, Axios, Framer Motion, Recharts, Leaflet.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0F833-66DD-4BC7-B9E3-51F28BDF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34861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01EE0-7B1C-4967-A22C-D2B8F178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9d48256ca49df">
            <a:extLst>
              <a:ext uri="{96DAC541-7B7A-43D3-8B79-37D633B846F1}">
                <asvg:svgBlip xmlns:asvg="http://schemas.microsoft.com/office/drawing/2016/SVG/main" r:embed="R35ef48fd328f4e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2247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F5A57-BA46-443C-93CF-250A02D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B4659-F232-4840-B652-A805937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FastAPI, Python 3.11 style code, async SQLAlchemy sessions, Pydantic schemas, Alembic migrations.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9D76A-ADF5-4F1C-8525-143BCA9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34861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C6C02-79F3-43B0-8D87-FB9BC4D8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1580de1744320">
            <a:extLst>
              <a:ext uri="{96DAC541-7B7A-43D3-8B79-37D633B846F1}">
                <asvg:svgBlip xmlns:asvg="http://schemas.microsoft.com/office/drawing/2016/SVG/main" r:embed="Rf4d59bcb365248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2247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E66EB-B714-40FA-A197-4EB163D6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815AC-E58C-460C-9992-AB05B2B0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718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PostgreSQL-targeted async engine with SQLite fallback for local or emergency execution paths.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0C82F-4D32-4381-9B4B-26B580E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861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4338B-1280-4D2F-9FB2-F033D4BF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c59af37004399">
            <a:extLst>
              <a:ext uri="{96DAC541-7B7A-43D3-8B79-37D633B846F1}">
                <asvg:svgBlip xmlns:asvg="http://schemas.microsoft.com/office/drawing/2016/SVG/main" r:embed="R25f47540fa5f4b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695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178C9-0667-4968-BF5D-8EA8E194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AI and 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2CECB-6345-46E8-8CBA-CCC4D0AB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SentenceTransformers embeddings, FAISS retrieval, NetworkX graph reasoning, Google Gemini generation.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5E5AF-6DED-4968-ADB3-A810C226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4861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78B2AE-F5D5-4C5A-8B99-CF5EC3E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a7261e74344f2">
            <a:extLst>
              <a:ext uri="{96DAC541-7B7A-43D3-8B79-37D633B846F1}">
                <asvg:svgBlip xmlns:asvg="http://schemas.microsoft.com/office/drawing/2016/SVG/main" r:embed="Rbd5421870a184f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3695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015C15-E7E2-4861-90B2-4396E646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APIs and integration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C11674-CE59-43B9-B02E-D493A02B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REST APIs under /api/v1, JWT auth flows, Axios refresh logic, external Gemini HTTP integration.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286B5F-DD17-4524-8032-8D89F15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4861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E7FCEB-E215-473A-BEC1-0E6C82E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1d054a79f450b">
            <a:extLst>
              <a:ext uri="{96DAC541-7B7A-43D3-8B79-37D633B846F1}">
                <asvg:svgBlip xmlns:asvg="http://schemas.microsoft.com/office/drawing/2016/SVG/main" r:embed="Rf24e80a1005545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3695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A8B0C3-4390-4ADE-8283-172EEED6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Dev and validation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83E544-02F0-4D30-98B4-9B9C713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Alembic migration files, dataset loader scripts, backend test modules, and validation utilities.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A8C0CC-9C3F-4BBF-9BD1-210896F7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A96788-0250-4681-AE10-24C432BA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config surface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1D409B-9F4B-4738-9839-8555DEAD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45B"/>
          </a:solidFill>
          <a:ln xmlns:a="http://schemas.openxmlformats.org/drawingml/2006/main" w="9525">
            <a:solidFill>
              <a:srgbClr val="18345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F06C5A-0B12-4B05-BD48-A192AC2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2038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E6F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6FB"/>
                </a:solidFill>
                <a:latin typeface="Aptos"/>
                <a:ea typeface="Aptos"/>
                <a:cs typeface="Aptos"/>
              </a:rPr>
              <a:t>DATABASE_URL / SQLITE_FALLBACK_URL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74A78A-F8EF-4953-BF84-9CC761D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1020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45B"/>
          </a:solidFill>
          <a:ln xmlns:a="http://schemas.openxmlformats.org/drawingml/2006/main" w="9525">
            <a:solidFill>
              <a:srgbClr val="1834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F44577-BAB0-436B-A07D-290C28EE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05450"/>
            <a:ext cx="2038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E6F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6FB"/>
                </a:solidFill>
                <a:latin typeface="Aptos"/>
                <a:ea typeface="Aptos"/>
                <a:cs typeface="Aptos"/>
              </a:rPr>
              <a:t>JWT_SECRET / JWT_ALGORITHM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E3881B-84EC-4832-8020-3C15D26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1020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45B"/>
          </a:solidFill>
          <a:ln xmlns:a="http://schemas.openxmlformats.org/drawingml/2006/main" w="9525">
            <a:solidFill>
              <a:srgbClr val="18345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D8654B-B906-40C1-84EE-F476825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05450"/>
            <a:ext cx="2038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E6F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6FB"/>
                </a:solidFill>
                <a:latin typeface="Aptos"/>
                <a:ea typeface="Aptos"/>
                <a:cs typeface="Aptos"/>
              </a:rPr>
              <a:t>GEMINI_API_KEY / GEMINI_MODEL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5D67EE-D952-4C0E-BF56-9461B5A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45B"/>
          </a:solidFill>
          <a:ln xmlns:a="http://schemas.openxmlformats.org/drawingml/2006/main" w="9525">
            <a:solidFill>
              <a:srgbClr val="18345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8E5C12-3AFA-42A3-B18F-E1C1BC4F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05450"/>
            <a:ext cx="2038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E6F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6FB"/>
                </a:solidFill>
                <a:latin typeface="Aptos"/>
                <a:ea typeface="Aptos"/>
                <a:cs typeface="Aptos"/>
              </a:rPr>
              <a:t>RAG_* / DATASET_ROOT / CORS_ORIGINS</a:t>
            </a:r>
          </a:p>
        </p:txBody>
      </p:sp>
    </p:spTree>
    <p:extLst>
      <p:ext uri="{BB962C8B-B14F-4D97-AF65-F5344CB8AC3E}">
        <p14:creationId xmlns:p14="http://schemas.microsoft.com/office/powerpoint/2010/main" val="1136342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FD5B55-2154-45D2-91CE-B807D0D0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47D47-6EB4-4EFF-A71D-833C27F2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F29D2-11B2-48B3-BE86-EEC19210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8DE16-9A50-4F20-8BCC-31976F9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94D2F-B347-432A-9466-014D0C67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3C52E-3621-4948-B658-7F6AB87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repository separates product surfaces, domain logic, and data assets cleanly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7A443-7584-441E-96FC-EDA2C68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folder layout shows a clear split between frontend, backend, datasets, and operational scripts.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F85DC-BE05-45FC-9CE4-C3B7004E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0D50A-7BD3-4D2E-8ECE-B3C65136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56C62-DCD5-47F6-945A-0E4B27F5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18160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7C93C-06F0-4054-89AA-A36AD7EE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Top-level repository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BC972-63C4-438D-AAC6-A48F8DBA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6863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Sentinel---AI/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backend/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  app/{api,services,risk_engine,rag,vector_store,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       knowledge_graph,models,repositories,schemas,tests}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  alembic/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  requirements.txt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frontend/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  src/{app,features,components,providers,services,types,utils}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  package.json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datasets/{TEdata,ai4i,generated,osha}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scripts/{load_ai4i,load_osha,load_tennessee,...}</a:t>
            </a:r>
          </a:p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3152"/>
                </a:solidFill>
                <a:latin typeface="Aptos Mono"/>
                <a:ea typeface="Aptos Mono"/>
                <a:cs typeface="Aptos Mono"/>
              </a:rPr>
              <a:t>  .agents/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6D940-4BA4-441B-82B4-97D10221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31495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9CAD0-4D80-4843-8ADE-BBBAA30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What each root contributes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BE8F7-6874-4DF3-80D6-D769BB38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857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DE560-77F9-497D-BC4D-5CD37553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dd6e8b76a4a7b">
            <a:extLst>
              <a:ext uri="{96DAC541-7B7A-43D3-8B79-37D633B846F1}">
                <asvg:svgBlip xmlns:asvg="http://schemas.microsoft.com/office/drawing/2016/SVG/main" r:embed="R42c21bdfd99345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28194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F61AE-1253-4289-A5DE-3C13218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426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2F3A3-EF4D-4B95-B6EF-B3D996A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FastAPI routes, service orchestration, domain models, AI subsystems, repositories, and tests.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907D7-BC2F-4EC6-BA3B-42974B8A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857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AF34D-6C53-426D-8205-8EAE0CF1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8644dcca348a9">
            <a:extLst>
              <a:ext uri="{96DAC541-7B7A-43D3-8B79-37D633B846F1}">
                <asvg:svgBlip xmlns:asvg="http://schemas.microsoft.com/office/drawing/2016/SVG/main" r:embed="R1554f42815b440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36576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ECBBE-AEE0-42DA-995A-063F36EB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19500"/>
            <a:ext cx="426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3AB94-CA1A-4C4E-AD53-F4FF1B61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Protected Next.js application with auth, navigation, workspaces, charts, and copilot UI.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4C704-2E71-42FC-9347-16600C3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4857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D314A-5A75-4D2D-AE94-D0DA97DD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027461ccf4be6">
            <a:extLst>
              <a:ext uri="{96DAC541-7B7A-43D3-8B79-37D633B846F1}">
                <asvg:svgBlip xmlns:asvg="http://schemas.microsoft.com/office/drawing/2016/SVG/main" r:embed="Rf75d5832f59e4e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4495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94EE6-153C-4DE3-8D18-31FDDE05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426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datasets and scripts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E35E7-AEC9-44F9-9AFD-19599F8C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Tracked industrial datasets and loaders for seeding, ingestion, and data-layer validation.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08009B-1F54-41C5-AA55-E2BBB171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62550"/>
            <a:ext cx="4857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8E71B2-B6B7-4579-B257-F2503A8B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959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3da8d247e4ac9">
            <a:extLst>
              <a:ext uri="{96DAC541-7B7A-43D3-8B79-37D633B846F1}">
                <asvg:svgBlip xmlns:asvg="http://schemas.microsoft.com/office/drawing/2016/SVG/main" r:embed="Rb2c08c926ba74c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53340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C204F-8CC8-43BC-B5A2-E52F1F1D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95900"/>
            <a:ext cx="426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operational maturity signals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5ADC98-30FC-4F6F-BCA1-B8363D32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6 focused backend test modules and Alembic migrations indicate more than a prototype UI shell.</a:t>
            </a:r>
          </a:p>
        </p:txBody>
      </p:sp>
    </p:spTree>
    <p:extLst>
      <p:ext uri="{BB962C8B-B14F-4D97-AF65-F5344CB8AC3E}">
        <p14:creationId xmlns:p14="http://schemas.microsoft.com/office/powerpoint/2010/main" val="1440020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D62748-48B9-4F26-BDD2-3AED4BDB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2DDA6-35AE-4300-ADA3-5E45D328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28A4-43E9-44BF-BE3B-89CBBF7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9C334-5891-4C0F-AB34-D9F3B30E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82E50-0D16-4291-81DA-7E8D048D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DAB51-EF37-46B4-B318-174CD609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data model centers on plants, zones, assets, people, and risk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901B5-7E0D-473E-8A93-D390E3A3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This ER view is simplified from backend/app/models/entities.py to keep the main operational relationships readable.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EEBC1-269B-449D-B387-13C0EF0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71360-F77D-4E1C-B39F-8BE64C2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DC601-C53A-4B38-9D1B-51F7ABE0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428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8BE8E-F344-4D66-B276-9FC6A9A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Plant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89E6A-5713-4F22-B596-CF2CCDC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1428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20C95-C91D-48ED-AACF-9DE6440C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5CCBC-05F1-4B28-A829-89F90204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0250"/>
            <a:ext cx="15621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F5434-05F5-4FCA-B340-B8F8EAB2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Equipment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664C4-A027-415B-B19F-3BD83AEC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1428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6A54D-B91A-4C8D-BB49-732F78E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2F080-40DA-424B-A1F3-71839477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1809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E9AFB-278F-4645-92AC-FEB2940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479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SensorReading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56927-CEF4-4B86-827E-9BAFDED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05200"/>
            <a:ext cx="15621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84A9B-D3AC-4C5B-9740-5C28174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528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C6D78-6B17-438E-B010-EFB86CA5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1809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F8456-75E6-47A6-943B-4FDF2B46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WorkerLocation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14206-2410-4B72-872A-F74FC368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05200"/>
            <a:ext cx="1428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2C9EF-20F6-4815-A628-E0A1C413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52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Permit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3A2B6-4B7C-4C7D-A1BB-A4DC8BE8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752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528C7-FA01-4421-A201-463D2BE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528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Maintenance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63ECA-2938-46A4-AD3B-74EC059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15621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88B0A-3D9B-4E36-A913-41BDF702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Incident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26ADF-29B2-4F37-85D8-218E5EFE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91100"/>
            <a:ext cx="15621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FFF4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521F15-37EA-4302-8CDD-51059F6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38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RiskEvent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9E955F-D02D-4442-9198-BE399E1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1809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E7F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968880-FEBD-42AA-9061-148CD28D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D3553B-E690-4276-B083-DBDE45D4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62500"/>
            <a:ext cx="2000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C78BD3-C489-4039-A0F2-70D25BF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User and user-owned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8F43B-891E-408E-9094-8A9BA197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3875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Notification</a:t>
            </a:r>
          </a:p>
          <a:p xmlns:a="http://schemas.openxmlformats.org/drawingml/2006/main">
            <a:pPr algn="ctr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AuditLog</a:t>
            </a:r>
          </a:p>
          <a:p xmlns:a="http://schemas.openxmlformats.org/drawingml/2006/main">
            <a:pPr algn="ctr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ChatHistory</a:t>
            </a:r>
          </a:p>
        </p:txBody>
      </p:sp>
      <p:cxnSp>
        <p:nvCxnSpPr>
          <p:cNvPr id="9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305050" y="2381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305300" y="2381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2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438900" y="2381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39150" y="2381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4" name=""/>
          <p:cNvCxnSpPr>
            <a:stCxn xmlns:a="http://schemas.openxmlformats.org/drawingml/2006/main" id="12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590925" y="2762250"/>
            <a:ext cx="704850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5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952750" y="3886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6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952750" y="3390900"/>
            <a:ext cx="2686050" cy="4953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7" name=""/>
          <p:cNvCxnSpPr>
            <a:stCxn xmlns:a="http://schemas.openxmlformats.org/drawingml/2006/main" id="1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305300" y="2381250"/>
            <a:ext cx="1333500" cy="1504950"/>
          </a:xfrm>
          <a:prstGeom xmlns:a="http://schemas.openxmlformats.org/drawingml/2006/main" prst="bentConnector5">
            <a:avLst>
              <a:gd name="adj1" fmla="val 17143"/>
              <a:gd name="adj2" fmla="val 67089"/>
              <a:gd name="adj3" fmla="val 82857"/>
            </a:avLst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8" name=""/>
          <p:cNvCxnSpPr>
            <a:stCxn xmlns:a="http://schemas.openxmlformats.org/drawingml/2006/main" id="14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657850" y="2762250"/>
            <a:ext cx="695325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99" name=""/>
          <p:cNvCxnSpPr>
            <a:stCxn xmlns:a="http://schemas.openxmlformats.org/drawingml/2006/main" id="1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438900" y="2381250"/>
            <a:ext cx="1066800" cy="1504950"/>
          </a:xfrm>
          <a:prstGeom xmlns:a="http://schemas.openxmlformats.org/drawingml/2006/main" prst="bentConnector5">
            <a:avLst>
              <a:gd name="adj1" fmla="val 21429"/>
              <a:gd name="adj2" fmla="val 67089"/>
              <a:gd name="adj3" fmla="val 78571"/>
            </a:avLst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100" name=""/>
          <p:cNvCxnSpPr>
            <a:stCxn xmlns:a="http://schemas.openxmlformats.org/drawingml/2006/main" id="12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2705100" y="2381250"/>
            <a:ext cx="361950" cy="29908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101" name=""/>
          <p:cNvCxnSpPr>
            <a:stCxn xmlns:a="http://schemas.openxmlformats.org/drawingml/2006/main" id="14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2705100" y="2381250"/>
            <a:ext cx="2171700" cy="2990850"/>
          </a:xfrm>
          <a:prstGeom xmlns:a="http://schemas.openxmlformats.org/drawingml/2006/main" prst="bentConnector5">
            <a:avLst>
              <a:gd name="adj1" fmla="val 10526"/>
              <a:gd name="adj2" fmla="val 16561"/>
              <a:gd name="adj3" fmla="val 73684"/>
            </a:avLst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102" name=""/>
          <p:cNvCxnSpPr>
            <a:stCxn xmlns:a="http://schemas.openxmlformats.org/drawingml/2006/main" id="20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1924050" y="4267200"/>
            <a:ext cx="24765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103" name=""/>
          <p:cNvCxnSpPr>
            <a:stCxn xmlns:a="http://schemas.openxmlformats.org/drawingml/2006/main" id="12" idx="2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276600" y="2762250"/>
            <a:ext cx="457200" cy="26098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104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5295900" y="537210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cxnSp>
        <p:nvCxnSpPr>
          <p:cNvPr id="105" name=""/>
          <p:cNvCxnSpPr>
            <a:stCxn xmlns:a="http://schemas.openxmlformats.org/drawingml/2006/main" id="34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134350" y="5334000"/>
            <a:ext cx="10287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D16D40-AE6B-432A-B9CE-CF24F214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A0B7"/>
                </a:solidFill>
                <a:latin typeface="Aptos"/>
                <a:ea typeface="Aptos"/>
                <a:cs typeface="Aptos"/>
              </a:rPr>
              <a:t>Supporting entities also include ComplianceReport and Document</a:t>
            </a:r>
          </a:p>
        </p:txBody>
      </p:sp>
    </p:spTree>
    <p:extLst>
      <p:ext uri="{BB962C8B-B14F-4D97-AF65-F5344CB8AC3E}">
        <p14:creationId xmlns:p14="http://schemas.microsoft.com/office/powerpoint/2010/main" val="18861426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493136-0FAB-4006-BAE6-F78ACCDC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7D5BE-3B4D-4B93-98FE-E7AB1C54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1CC87-5773-42FD-85BB-AAAD16DB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B7639-BDCF-4F28-87A9-6DE9D21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D164C-1081-4298-8E83-94B67EB6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0BE80-C752-480B-8C9B-8BC65C67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Authentication is JWT-based with client-side session recovery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50FAB-7770-437D-B5C9-18FDB5F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repo contains both backend token issuance and frontend refresh handling, which makes the auth flow presentation-ready and technically concrete.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C3F2-755F-4A4F-A9D9-F5057C9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05247-E5B2-4446-9565-3ADA1584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7AAA5-0E5D-42DE-A7AD-289AEA66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7907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682BE-3337-46C4-9EBA-412112C9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b729fd4c44987">
            <a:extLst>
              <a:ext uri="{96DAC541-7B7A-43D3-8B79-37D633B846F1}">
                <asvg:svgBlip xmlns:asvg="http://schemas.microsoft.com/office/drawing/2016/SVG/main" r:embed="R944a83c831644e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7640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533F1-7DCD-4130-9AB8-6031C6A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Login 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83653-2E8A-4A73-807E-2E48F166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Frontend login page submits credentials through auth-service.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C05B5-9DB8-4D56-A481-E9C9272D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7907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9A96D-B7FF-4DB3-835F-A3AB46E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f713a267e483b">
            <a:extLst>
              <a:ext uri="{96DAC541-7B7A-43D3-8B79-37D633B846F1}">
                <asvg:svgBlip xmlns:asvg="http://schemas.microsoft.com/office/drawing/2016/SVG/main" r:embed="R5abd7f45239641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7190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724A5-582B-4A48-9613-A28F964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Auth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670BA-4EB6-4BE8-91E0-6A3BA4CF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Backend verifies email and bcrypt password hash.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D7F0B-6D4B-41DF-B9B0-F8068093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95550"/>
            <a:ext cx="17907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CF933-7552-4757-85E4-961B751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bcdc730234439">
            <a:extLst>
              <a:ext uri="{96DAC541-7B7A-43D3-8B79-37D633B846F1}">
                <asvg:svgBlip xmlns:asvg="http://schemas.microsoft.com/office/drawing/2016/SVG/main" r:embed="R780de2352fdd4a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6740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93539-64A3-45C0-BE72-2310AF0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JWT pair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B98B5-2BD0-4FED-A84D-2B34CEE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338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Access and refresh tokens are created and returned.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76985-7515-44FF-AD98-C57F265C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95550"/>
            <a:ext cx="17907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A54D5-8427-48B6-9910-0A9EC72E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92e2ec93b4691">
            <a:extLst>
              <a:ext uri="{96DAC541-7B7A-43D3-8B79-37D633B846F1}">
                <asvg:svgBlip xmlns:asvg="http://schemas.microsoft.com/office/drawing/2016/SVG/main" r:embed="R558056fbf84b42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539F5A-03E8-4A5B-816A-7BAD6ED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Client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583B56-7457-41CF-A352-779FC95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338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Tokens are stored and reused by the API client.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5A049-70F6-40B0-B0F9-571F1BD7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17907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A465B-4190-4CB4-929D-5B6D5780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0e246811a4dbb">
            <a:extLst>
              <a:ext uri="{96DAC541-7B7A-43D3-8B79-37D633B846F1}">
                <asvg:svgBlip xmlns:asvg="http://schemas.microsoft.com/office/drawing/2016/SVG/main" r:embed="R3997b3500aa149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58400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18C0F-86DA-44E6-AC92-E4E00F5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Silent refresh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3B720-A3C3-40D5-B416-8E57E94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On 401, Axios triggers /auth/refresh before expiring the session.</a:t>
            </a:r>
          </a:p>
        </p:txBody>
      </p:sp>
      <p:cxnSp>
        <p:nvCxnSpPr>
          <p:cNvPr id="7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686050" y="3381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7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81550" y="3381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8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877050" y="3381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972550" y="3381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9E3F5F-EBED-4508-A0E3-D7C15D3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818E4C-CA88-4A55-ADBB-9BEA435A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Role guards and route dependencies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803BC0-70B3-4BB0-9349-12BBE0A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Protected routes use get_current_user and require_roles, while the frontend protected layout redirects unauthenticated users back to /login.</a:t>
            </a:r>
          </a:p>
        </p:txBody>
      </p:sp>
    </p:spTree>
    <p:extLst>
      <p:ext uri="{BB962C8B-B14F-4D97-AF65-F5344CB8AC3E}">
        <p14:creationId xmlns:p14="http://schemas.microsoft.com/office/powerpoint/2010/main" val="1050542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100434-AFD2-461B-AF32-AACA5534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3D6FC-86F2-4DC9-A4B3-204B49B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A48E7-3E86-49CD-B671-1820EAB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58224-5DCE-4C3C-AFA1-CECE9D6C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6558C-0919-4A01-A686-7B3D9AF1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0513D-D083-4D85-BD77-F21441C2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copilot pipeline grounds Gemini with retrieval and live operational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58C7A-6897-4D47-A6CC-D48D5BE7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pipeline below is derived from backend/app/services/copilot.py, app/ai/gemini.py, retriever.py, loaders.py, and the related schemas.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5032C-4632-4A10-B207-EB1C4AED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379AB-7852-43CB-A03A-59D6458A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31BD2-F990-4928-B619-59EA3CA6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485900" cy="19431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74232-C018-4C27-93E1-CE14BC5C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68ea1772e484d">
            <a:extLst>
              <a:ext uri="{96DAC541-7B7A-43D3-8B79-37D633B846F1}">
                <asvg:svgBlip xmlns:asvg="http://schemas.microsoft.com/office/drawing/2016/SVG/main" r:embed="R57074741342348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144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9B4B4-999C-4CAA-91A4-419BC46F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E8E8A-7076-447E-B94C-8673A009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219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Question, plant context, filters, and conversation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CF376-F52E-4328-9F4D-332B2AD9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1485900" cy="19431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6C856-BDC4-4B93-9119-E3B94444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9aceefaeb4a20">
            <a:extLst>
              <a:ext uri="{96DAC541-7B7A-43D3-8B79-37D633B846F1}">
                <asvg:svgBlip xmlns:asvg="http://schemas.microsoft.com/office/drawing/2016/SVG/main" r:embed="Rdcec25497b004d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289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6B502-825A-4870-AF50-BA4D737C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623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A40ED-4248-40E7-8F6A-2EE4D5D9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48100"/>
            <a:ext cx="1219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RAG retriever loads indexed content and returns relevant chunks.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C31F4-934D-44FA-BA31-F781E85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1485900" cy="19431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88280-7FDE-42FD-93AA-71322253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2549f79b240b4">
            <a:extLst>
              <a:ext uri="{96DAC541-7B7A-43D3-8B79-37D633B846F1}">
                <asvg:svgBlip xmlns:asvg="http://schemas.microsoft.com/office/drawing/2016/SVG/main" r:embed="R203c507946e64a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FB23E-F569-4A2F-9DDD-7DAFB1EE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623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9E133-6C15-4371-999D-C3183FBA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1219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Live risks, incidents, pending actions, and plant records are fetched.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B11FE-E67A-41E2-B745-290A7EB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28900"/>
            <a:ext cx="1485900" cy="19431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DFBED-CB95-43C4-8811-EEE11B92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4910d23344bef">
            <a:extLst>
              <a:ext uri="{96DAC541-7B7A-43D3-8B79-37D633B846F1}">
                <asvg:svgBlip xmlns:asvg="http://schemas.microsoft.com/office/drawing/2016/SVG/main" r:embed="Rb5ff26072f7740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579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5CAB6-90C0-4754-A065-2C0A1BF6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623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Summarize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C9B6E-C52A-44BA-992D-54CFC4F3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48100"/>
            <a:ext cx="1219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KnowledgeGraphBuilder adds relationship-aware context.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C659D-4EEA-4B48-847C-B24E234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1485900" cy="19431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F84BC5-6DDF-4ACB-96A2-CC9A0ED8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77f224f5e4271">
            <a:extLst>
              <a:ext uri="{96DAC541-7B7A-43D3-8B79-37D633B846F1}">
                <asvg:svgBlip xmlns:asvg="http://schemas.microsoft.com/office/drawing/2016/SVG/main" r:embed="Rd2dcaa7d2a3c47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BFA5B9-F77C-4CA0-B05A-AC8969E7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Generate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91E44B-719A-4ACB-94EB-3E821B3F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1219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Gemini prompt builder produces structured JSON guidance.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72ADD7-513C-478F-85D3-1EEAF61E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1485900" cy="19431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9F2B57-5D61-4ADF-8C54-1BB7793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a53a8d20b4a92">
            <a:extLst>
              <a:ext uri="{96DAC541-7B7A-43D3-8B79-37D633B846F1}">
                <asvg:svgBlip xmlns:asvg="http://schemas.microsoft.com/office/drawing/2016/SVG/main" r:embed="R24e4243193c34b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9B8857-84FC-4696-9F74-5C62FDA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DD691E-F2B6-4639-B15B-7B82F73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48100"/>
            <a:ext cx="1219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Response, citations, confidence, documents, and saved chat history.</a:t>
            </a:r>
          </a:p>
        </p:txBody>
      </p:sp>
      <p:cxnSp>
        <p:nvCxnSpPr>
          <p:cNvPr id="92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1717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93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8862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9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6007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95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3152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96" name=""/>
          <p:cNvCxnSpPr>
            <a:stCxn xmlns:a="http://schemas.openxmlformats.org/drawingml/2006/main" id="30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0297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F1F01F-3D42-45CA-AA71-35D15965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17145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7C3083-4840-4089-B493-6CBF7DE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Documents and datasets feed retrieval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ADC4D2-FB56-4D02-A4FB-F51E3B43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1524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AB9224-2F12-4B67-96FF-327BB13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Graph context is generated on demand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B5E326-18FA-4012-B849-5F35DB2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17145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695B5C-A226-44D6-B53C-6993592C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Structured answer schema is enforced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915F55-087E-4959-8CBB-F4DC5179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DF57C2-39E0-4C10-9641-1C1598E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Important implementation detail: the Gemini client also supports a deterministic offline fallback when an API key is absent or a request fails.</a:t>
            </a:r>
          </a:p>
        </p:txBody>
      </p:sp>
    </p:spTree>
    <p:extLst>
      <p:ext uri="{BB962C8B-B14F-4D97-AF65-F5344CB8AC3E}">
        <p14:creationId xmlns:p14="http://schemas.microsoft.com/office/powerpoint/2010/main" val="1581191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88F770-AD66-4C54-A718-D040628F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E731D-490A-4DB9-ADC4-1144891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3D728-7D93-4844-A2F4-DE5D63FC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1D5E1-F463-48C3-876A-92B7D4DE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29093-6A9D-4A62-819E-24298164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83867-7414-4437-A7CA-4370F36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Backend requests move through routing, policy, services, and persistence layers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E34D4-47D5-4BE3-8BC2-53A27AE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This view compresses the FastAPI application structure into the main execution flow that most product features follow.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1376D-AAFE-474D-B3FD-E4E61F2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4DE87-8A45-418A-AB18-79D0D8E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62B8C-E988-4B79-A45D-23D97B8B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24050"/>
            <a:ext cx="88392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A952D-D7B1-4FA9-AEE5-668FE073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383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1. API router and request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D61F5-4BBC-49D3-BA57-835D3FA7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47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FastAPI routes under /api/v1 validate payloads with Pydantic schemas and normalize responses with APIResponse.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71B41-32F2-40EE-A652-343B4F0C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88392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204AD-A7A2-433E-8415-FF9C160F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84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2. Dependencies and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5DEED-7977-425B-A1D2-3815FF55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DB sessions, HTTP bearer auth, current user resolution, and role guards are injected before business logic executes.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9ECEF-3C0D-4169-BDBF-EB7A9034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24250"/>
            <a:ext cx="88392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AC5B1-EF95-4A2C-A88B-3A59A13C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385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3. Service orchestration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6564E-99FB-4996-8BFD-53AB0430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Services coordinate repositories, graph builders, rule engines, similarity search, retrievers, and Gemini generation.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1AFD9-B907-4EBC-B6BC-8241E728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24350"/>
            <a:ext cx="88392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2342B-A086-448F-AFCC-D7B98B1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4. Persistence and side effects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412AA-3819-474E-B255-56F35A8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482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SQLAlchemy repositories commit incidents, risks, recommendations, notifications, compliance reports, and chat history.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7C469-6446-4B0F-9633-507F5C0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24450"/>
            <a:ext cx="88392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08F8B-0A33-47D7-B0B1-3E2C2AA6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5. Structured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962FC-3C90-4C45-B69D-E9ED8BB7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483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Routes return typed data plus message, errors, pagination metadata, and timestamps for frontend consumption.</a:t>
            </a:r>
          </a:p>
        </p:txBody>
      </p:sp>
      <p:cxnSp>
        <p:nvCxnSpPr>
          <p:cNvPr id="57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25336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33337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41338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96000" y="49339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E70EA-9916-4C1B-B3AA-688025EE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85800" cy="2476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D6CAF-C0C9-4B1B-B24A-2CCD188D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381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785F8-337E-4134-B139-4E641264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057400"/>
            <a:ext cx="781050" cy="304800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4C1F6B-0165-473D-AA98-E9A8E6B7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82 endpoints</a:t>
            </a:r>
          </a:p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17 route groups</a:t>
            </a:r>
          </a:p>
        </p:txBody>
      </p:sp>
    </p:spTree>
    <p:extLst>
      <p:ext uri="{BB962C8B-B14F-4D97-AF65-F5344CB8AC3E}">
        <p14:creationId xmlns:p14="http://schemas.microsoft.com/office/powerpoint/2010/main" val="15260710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E1D361-A569-4C22-86E6-F980089E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C36D8-CE81-4E17-83FC-00E6ACD6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83338-E04E-406C-B9A5-B82FB84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F943F-C009-44C9-B614-6DF4FD24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A8A04-0049-458A-89EC-ED2C589F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E285E-F407-46D8-9A2C-54DC1FDF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Frontend flow is provider-driven, protected, and role-aware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E827E-22F0-4DFF-AED4-197337FB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Next.js application uses a protected app layout, shared providers, and service-based API access to keep feature pages consistent.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D9897-F8D2-435B-B06C-ED144EA7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5F017-7E72-4597-B21D-EF2D8961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677B6-1586-4BB5-BC9C-D93D9DF2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828800" cy="1962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9C87B-05F7-463B-B51A-AA497AD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d1d4d58b646a0">
            <a:extLst>
              <a:ext uri="{96DAC541-7B7A-43D3-8B79-37D633B846F1}">
                <asvg:svgBlip xmlns:asvg="http://schemas.microsoft.com/office/drawing/2016/SVG/main" r:embed="Re896d3bd3bbf4a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192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2CD45-8682-4D05-818D-53F8E252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Auth 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B49CA-84EA-4FF4-B901-BD671DA7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Login and password-reset entry points sit under the auth route group.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0A0D-47C1-487C-B82E-911AB725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47950"/>
            <a:ext cx="1828800" cy="1962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D4A79-9337-48C9-B343-DC6757FF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7924d92334566">
            <a:extLst>
              <a:ext uri="{96DAC541-7B7A-43D3-8B79-37D633B846F1}">
                <asvg:svgBlip xmlns:asvg="http://schemas.microsoft.com/office/drawing/2016/SVG/main" r:embed="R261ac8c870114b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909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6F885-A8EF-43FB-8BB1-2EE64F11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Protected 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B02F4-6BE4-4C67-BF7F-2D991D48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app layout checks authentication state and redirects unauthenticated users.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A28D8-473C-4AA9-B1A0-76CF542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47950"/>
            <a:ext cx="1828800" cy="1962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BFE57-CE6E-4A36-BEE6-FCBFB65B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0c593155e41e5">
            <a:extLst>
              <a:ext uri="{96DAC541-7B7A-43D3-8B79-37D633B846F1}">
                <asvg:svgBlip xmlns:asvg="http://schemas.microsoft.com/office/drawing/2016/SVG/main" r:embed="R83370d702d9040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626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53B37-0C8F-42C3-B857-A5E544DA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62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App providers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8B773-C980-4455-A23D-72610DD5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48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Theme, Query, Auth, Notification, and Error Boundary providers wrap the app.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4E8D6-E24B-4F18-99B8-877CDF5D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1828800" cy="1962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4697A-F34B-475B-A6AB-DB0EF240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4c0b87b14a58">
            <a:extLst>
              <a:ext uri="{96DAC541-7B7A-43D3-8B79-37D633B846F1}">
                <asvg:svgBlip xmlns:asvg="http://schemas.microsoft.com/office/drawing/2016/SVG/main" r:embed="R7dd6cb43f1e44d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76F0E-9AD4-456D-9425-96E8FF95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Service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E5651-5505-4D4F-9E11-55F8941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Typed service modules call the API client for dashboard, graph, risk, entities, and copilot flows.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606E9-D588-40FF-A51C-F5050B1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1828800" cy="1962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FC0BC-FF60-4FD9-8486-1273D698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57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bdb459eb246ec">
            <a:extLst>
              <a:ext uri="{96DAC541-7B7A-43D3-8B79-37D633B846F1}">
                <asvg:svgBlip xmlns:asvg="http://schemas.microsoft.com/office/drawing/2016/SVG/main" r:embed="R7d475dff0d454e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3009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DE2B0E-0395-4E8E-8745-568DDD3C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Role workspaces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BF153D-A7C8-4D15-8E20-18EF7F16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48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Dashboard, plant views, risk, incidents, maintenance, permits, compliance, analytics, copilot, and settings.</a:t>
            </a:r>
          </a:p>
        </p:txBody>
      </p: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647950" y="36290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6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819650" y="36290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7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991350" y="36290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78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163050" y="36290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B83065-50EF-454E-9531-2D8A557C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F2F6F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C30AD6-C57F-4EBF-8BA2-9CBCC652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975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152"/>
                </a:solidFill>
                <a:latin typeface="Aptos"/>
                <a:ea typeface="Aptos"/>
                <a:cs typeface="Aptos"/>
              </a:rPr>
              <a:t>User experience detail that matters: the shared Axios client retries safe GETs, refreshes access tokens on 401, and emits a session-expired event if recovery fails.</a:t>
            </a:r>
          </a:p>
        </p:txBody>
      </p:sp>
    </p:spTree>
    <p:extLst>
      <p:ext uri="{BB962C8B-B14F-4D97-AF65-F5344CB8AC3E}">
        <p14:creationId xmlns:p14="http://schemas.microsoft.com/office/powerpoint/2010/main" val="1134826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60CD9E-6D1C-47E2-974E-A74DDD50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AE11A-C918-4B72-9D69-A9BD147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8083A-7F23-4F56-A5DC-82F0962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5688A-4300-409A-9CB4-CBD0F7F3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AB57D-A198-4487-AE2F-70E3481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485B1-F142-45D9-9C13-C9039834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copilot chat path is the most orchestration-heavy API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A3508-6B9C-4033-920E-18D3A8CB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This sequence is traced from the committed frontend copilot service, backend route, CopilotService, retriever, Gemini client, and persistence 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97BCB-9207-40BC-8269-5A0FC125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5159D-C880-47E5-81F5-8DC333E0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4F54C-5FDA-4243-843B-FA02C38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4FDAC-D0F5-44CD-BD16-68259D50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741C6-BA35-434A-A01B-2FDB9370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525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43349-AEF7-452A-806D-6CE98042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9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3C6DB-AEE0-411F-B1AA-6745314E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669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0B6A7-B4EE-4B3B-A3D9-F7EC7302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9525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D272F-5014-4E6E-B030-D552A14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9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90440-03F9-4821-AB13-03DE4D7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669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A4215-941F-47ED-8019-7C89A93E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9525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23211-E668-4E7C-BC8C-4EA55D44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FC76D-D1A2-43EE-8FDA-571A05DE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669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9562E-DD89-4787-9757-D79AFB60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9525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9DE33-2AE5-47AC-B404-D1A29DF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C3057-6DBE-4F3F-BF27-4B14B59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CopilotService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4E82C-A143-4E49-B3EC-6ED02893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9525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D957D-813F-4343-A982-3E41F51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9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95423-83E8-4729-BDCA-EC987CB1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669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Retriever and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9582A-0743-4F60-A6C3-9B8D1B5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9525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55070-7001-4355-988A-76AF13C4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79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077D2-7E90-4C06-BB76-39D86AE2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669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Gemini and 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976D3-6F88-48A3-8653-D58CB86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0"/>
            <a:ext cx="9525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1B6D2-95E6-4A8C-ABB8-0F52F00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9AA52-5D5F-44D3-BE77-45A53BF5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62200"/>
            <a:ext cx="95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E27928-E333-4586-8F34-30B85636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28850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Ask safety question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383B6-CCDD-435D-9241-9F054347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1543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A7C11B-B724-41F2-84BE-C2822B7C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95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3417A-7031-4941-A7B5-9F59640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527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Send /copilot/chat request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201250-848C-474C-8E10-9D9F95E3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1543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17BF8B-59D8-4FA5-8B63-E147CEF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95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94CF99-613B-4BC3-98C1-37702C0C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POST with bearer token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A7979D-38FD-4349-9F87-AAFC462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71850"/>
            <a:ext cx="161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924AB3-12AB-4E54-BA8D-B872C8D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95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F13D62-07E8-4D20-8F3E-9885CEDC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Auth + route 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D2D157-C210-4654-B03D-4543C414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1733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9AF2CB-EC84-4AE2-A44E-121B3E1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95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A6FA7F-0DD0-4687-95A2-6BD0A4C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Retrieve docs and live context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9F83BA-547E-46F3-B600-71B26E1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19550"/>
            <a:ext cx="1733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6AB8A7-1F1E-4C3C-A1DB-ED1BB99D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9525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2BB93E-DCC3-480D-B05F-A91A2C60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481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Citations and supporting evidence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11792E-5DEC-4E9D-BF4A-F3B464C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43400"/>
            <a:ext cx="340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1678A1-16ED-45F1-A0F1-AEA74902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05300"/>
            <a:ext cx="95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DDD961-E181-4F55-9066-1889E6E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Build Gemini prompt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FABDEA-352E-4C28-AC74-1160994B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40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E9CAEE-9C49-4A6C-9820-C22ED0E5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29150"/>
            <a:ext cx="9525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1B62E0-972C-4BF7-BA75-88CCE74C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Structured answer JSON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B0FCED-6054-4C04-9627-5EDAD93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91100"/>
            <a:ext cx="340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B46C84-7BCA-4775-99FA-E2B3D88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953000"/>
            <a:ext cx="95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4B6C8B-7CCC-411C-BD43-2DFEC569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Persist chat history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F4C17E-66FF-423C-8E41-FE87159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14950"/>
            <a:ext cx="161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50B95D-E159-4C9E-9742-9D1B3CB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76850"/>
            <a:ext cx="9525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C46D34-8DE9-4390-B830-5B7C9A7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Return CopilotChatResponse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A53024-104E-46B0-9E5E-1779C5CA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3086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75B7E0-3EFD-4517-8CE2-EAA144F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00700"/>
            <a:ext cx="9525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7AC9A5-58B1-4DD8-BCC7-2B8D4882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67350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Deliver typed response</a:t>
            </a:r>
          </a:p>
        </p:txBody>
      </p:sp>
    </p:spTree>
    <p:extLst>
      <p:ext uri="{BB962C8B-B14F-4D97-AF65-F5344CB8AC3E}">
        <p14:creationId xmlns:p14="http://schemas.microsoft.com/office/powerpoint/2010/main" val="1847508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1D0B8F-92B4-40CC-BC20-ECF077A9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E46B0-A5EB-437D-A9B0-74CD879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58AF2-CB70-4EB8-9761-568A7FC8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0D4A4-0AD6-454E-8864-4962936E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DAB70-69EA-476F-938C-6C706A46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F316D-BB93-42E4-B7F8-D7B3D3F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Deployment topology is partly visible in code, but infrastructure manifests are not committed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AF2D0-29DD-4D10-82F2-47AF21B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This slide separates what is observed from application code and settings from what would need separate deployment artifacts to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A96A0-1F00-4E0B-BAFA-2AC409B4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AB23A-2A72-4616-9E26-45E35F3E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E5802-39C9-404D-84E5-AB71D1D8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5240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30e242e374459">
            <a:extLst>
              <a:ext uri="{96DAC541-7B7A-43D3-8B79-37D633B846F1}">
                <asvg:svgBlip xmlns:asvg="http://schemas.microsoft.com/office/drawing/2016/SVG/main" r:embed="R9da11af10e884b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85900" y="2952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CFE5A-6F50-4CF2-9CEE-90CCE52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Web clients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2025C-30E7-427E-9357-7D8D4BFA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A0B7"/>
                </a:solidFill>
                <a:latin typeface="Aptos"/>
                <a:ea typeface="Aptos"/>
                <a:cs typeface="Aptos"/>
              </a:rPr>
              <a:t>Users access the 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F7EBF-C1AF-40F1-8E88-94E3E787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20955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da25417a042f7">
            <a:extLst>
              <a:ext uri="{96DAC541-7B7A-43D3-8B79-37D633B846F1}">
                <asvg:svgBlip xmlns:asvg="http://schemas.microsoft.com/office/drawing/2016/SVG/main" r:embed="R9c587201b29440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29000" y="2590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76DD0-6BC8-449B-896F-09FDE9CB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Frontend host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8C191-EA2B-4F76-8D3F-7C3E7515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Observed from repo: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Next.js application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External API base URL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Role-aware workspaces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A9A73-0C72-4B36-9FA3-63B0A30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15621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BBEAA-EF7C-4382-9092-FAEF9D83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7190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Hosting config not committed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955CF-672C-4AD5-83D0-15CC0F61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23622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43e59211944f4">
            <a:extLst>
              <a:ext uri="{96DAC541-7B7A-43D3-8B79-37D633B846F1}">
                <asvg:svgBlip xmlns:asvg="http://schemas.microsoft.com/office/drawing/2016/SVG/main" r:embed="Rd1dca9f7ddd942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29350" y="2590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AAABA-43FD-4878-B1AA-BF475133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Backend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6BEA3-2707-44B2-BE64-7C11B75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Observed from repo: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FastAPI app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Async database engine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Gemini HTTP client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FAISS-backed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60444-BD9E-4C4A-9860-18E836B8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17335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AA664-E1F4-47D3-8D74-0A23E1B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Cloud platform not committed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CFDD9-6DF4-4FF9-9248-922B358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2095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04f7640fd4084">
            <a:extLst>
              <a:ext uri="{96DAC541-7B7A-43D3-8B79-37D633B846F1}">
                <asvg:svgBlip xmlns:asvg="http://schemas.microsoft.com/office/drawing/2016/SVG/main" r:embed="R2cc78249a4274d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9700" y="2114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F1193-7770-4B00-A4FE-2B608F8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Database tier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68E9D-3E50-4DDB-B4E1-A70B414B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PostgreSQL target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SQLite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664A9-F0C7-49D7-B8EC-7D095880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095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3b54e11234696">
            <a:extLst>
              <a:ext uri="{96DAC541-7B7A-43D3-8B79-37D633B846F1}">
                <asvg:svgBlip xmlns:asvg="http://schemas.microsoft.com/office/drawing/2016/SVG/main" r:embed="R8c588d86e49e45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9700" y="3543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87922C-FBFB-41AA-9FE8-CE8717AD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24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AI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FD018D-E8CE-4495-B637-0A707CB1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Gemini model configured by settings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74B14F-A529-4278-83B7-FB13D46B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24400"/>
            <a:ext cx="2095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b177c8ada47ea">
            <a:extLst>
              <a:ext uri="{96DAC541-7B7A-43D3-8B79-37D633B846F1}">
                <asvg:svgBlip xmlns:asvg="http://schemas.microsoft.com/office/drawing/2016/SVG/main" r:embed="R40e65c78ec8d4f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9700" y="49720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EF1684-A6EC-402A-8228-D2ACAA10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530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Local assets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E4A33-37B2-490C-965B-E4BAFF31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578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datasets/</a:t>
            </a:r>
          </a:p>
          <a:p xmlns:a="http://schemas.openxmlformats.org/drawingml/2006/main">
            <a:pPr algn="l">
              <a:defRPr sz="900" b="0">
                <a:solidFill>
                  <a:srgbClr val="1731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152"/>
                </a:solidFill>
                <a:latin typeface="Aptos"/>
                <a:ea typeface="Aptos"/>
                <a:cs typeface="Aptos"/>
              </a:rPr>
              <a:t>backend/.vector_store artifacts</a:t>
            </a:r>
          </a:p>
        </p:txBody>
      </p:sp>
      <p:cxnSp>
        <p:nvCxnSpPr>
          <p:cNvPr id="8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400300" y="3228975"/>
            <a:ext cx="762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3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25780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4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8305800" y="2438400"/>
            <a:ext cx="45720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5" name=""/>
          <p:cNvCxnSpPr>
            <a:stCxn xmlns:a="http://schemas.openxmlformats.org/drawingml/2006/main" id="20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305800" y="3228975"/>
            <a:ext cx="45720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6" name=""/>
          <p:cNvCxnSpPr>
            <a:stCxn xmlns:a="http://schemas.openxmlformats.org/drawingml/2006/main" id="2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305800" y="3228975"/>
            <a:ext cx="457200" cy="2066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49F97A-DABE-47DB-89BE-BBB41AB3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353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C19C87-6B29-426D-A5A0-D9BA1FF9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695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45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4545"/>
                </a:solidFill>
                <a:latin typeface="Aptos"/>
                <a:ea typeface="Aptos"/>
                <a:cs typeface="Aptos"/>
              </a:rPr>
              <a:t>Not committed in repo: Dockerfile, docker-compose, render.yaml, Procfile, reverse-proxy config, and frontend hosting manifest.</a:t>
            </a:r>
          </a:p>
        </p:txBody>
      </p:sp>
    </p:spTree>
    <p:extLst>
      <p:ext uri="{BB962C8B-B14F-4D97-AF65-F5344CB8AC3E}">
        <p14:creationId xmlns:p14="http://schemas.microsoft.com/office/powerpoint/2010/main" val="7791010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B94D8F-1F32-4019-9D95-842BA06B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CFEAD-D283-4370-9AF4-58796F0B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72B44-5C13-4C2A-81E5-A1ECCBC3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F0095-07B6-40D4-BD90-A7384D4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8C840-2B88-4D0F-B2CD-1F376AAC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09F5-1CD8-4D7E-A7F6-A0145ADC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Security is enforced through layered auth, validation, and prompt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8BF7B-FF93-4046-8430-1AFFC80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source code shows a practical security posture spanning authentication, authorization, schema validation, and constrained AI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951B3-3DDE-4997-89BE-1F2BF4C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948DD-2779-4BF8-A06A-19440CB6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488D7-F7CC-4450-AE14-25F6B6F1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A977D-9201-4B50-B365-397262EB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5ed443bfe4bea">
            <a:extLst>
              <a:ext uri="{96DAC541-7B7A-43D3-8B79-37D633B846F1}">
                <asvg:svgBlip xmlns:asvg="http://schemas.microsoft.com/office/drawing/2016/SVG/main" r:embed="Rfe9c19721e504a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286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F50D0-A56A-40B0-A9BA-5CA2C2B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JWT session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79AE6-C8BA-4868-9230-09E8960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Access and refresh tokens are issued server-side and consumed through a protected Axios client.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C72EB-1E70-4BFB-AA1D-5AAB9572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A14B8-A47E-406D-A2AA-40FD0299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3c2b007a841dd">
            <a:extLst>
              <a:ext uri="{96DAC541-7B7A-43D3-8B79-37D633B846F1}">
                <asvg:svgBlip xmlns:asvg="http://schemas.microsoft.com/office/drawing/2016/SVG/main" r:embed="Rdd2adf4143d146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2286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33A6E-EA30-41E8-B81E-57261E4B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Role-based access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09B8A-BC52-4E87-B4C6-1FB8E431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require_roles and get_current_user guard sensitive routes like risk analysis.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A1EEF-BA30-4B04-9C65-92EF477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244BE-F561-4E26-B3E9-3969D491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89caeef4d461b">
            <a:extLst>
              <a:ext uri="{96DAC541-7B7A-43D3-8B79-37D633B846F1}">
                <asvg:svgBlip xmlns:asvg="http://schemas.microsoft.com/office/drawing/2016/SVG/main" r:embed="Rc2d0d19aa7f748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2286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76C96-55FE-47A5-A064-88A30A5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Password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8461A-CB94-40A5-9553-CA1788F9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Passwords are verified with bcrypt and never handled as plaintext after receipt.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337CA-0B5D-4126-B442-13360DAC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E62C1-CE39-413F-8353-FBD6FF7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cde2b746b4b3f">
            <a:extLst>
              <a:ext uri="{96DAC541-7B7A-43D3-8B79-37D633B846F1}">
                <asvg:svgBlip xmlns:asvg="http://schemas.microsoft.com/office/drawing/2016/SVG/main" r:embed="R7e762ebf04904d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9243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BD3663-DC55-4DF2-AE6D-1A06B2DB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Typed request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01A54-3A98-4965-AD5D-0F2B56B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FastAPI and Pydantic schemas enforce expected fields and reduce malformed input risk.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5E0E7-25F8-411E-986B-9069662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CC6A3-1074-47AF-8748-0A16BE2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b63cdab094b0b">
            <a:extLst>
              <a:ext uri="{96DAC541-7B7A-43D3-8B79-37D633B846F1}">
                <asvg:svgBlip xmlns:asvg="http://schemas.microsoft.com/office/drawing/2016/SVG/main" r:embed="Rf6bcf27d0d9f48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39243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BFF6C9-0F7C-4B90-9E05-D6D8F80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Constrained LLM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192381-5D77-41D0-800C-1F8B7148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Gemini prompting enforces grounded JSON responses and forbids fabricated risk scores.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DF8998-CEAD-4558-BC4F-172D895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E4C350-2DBF-475B-985A-3473A909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aa771ecaa471b">
            <a:extLst>
              <a:ext uri="{96DAC541-7B7A-43D3-8B79-37D633B846F1}">
                <asvg:svgBlip xmlns:asvg="http://schemas.microsoft.com/office/drawing/2016/SVG/main" r:embed="Rb32f7dfac9ee45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39243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6F0DF-49B3-4B16-968F-6B73A06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Boundary configuration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4C7773-F349-40F2-8EEB-2E64399B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CORS origins, request timeouts, and API settings are centralized in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8749178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27896F-3F6D-4D8B-BFAB-2DC10DC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FA30-44A3-4075-997B-41742CF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10EB3-A4D3-4760-B36B-372D5BC8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09ABB-C6C9-4AEB-80B7-CE03CDC7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6C824-89C6-4327-932B-07BF801E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2404E-09D4-4023-BA9D-86C675F2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codebase already includes useful optimizations, with clear room to scale further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C3A8E-1072-4390-AA7D-E4665B24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This slide distinguishes optimizations that are visible today from hotspots that will matter most as usage grows.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C444B-050E-473E-AE94-AF9588C2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A06D6-EAF1-43C3-9CA7-8985C6E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3A74F-6559-4830-BD68-C79938BA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Observed in the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2F479-8D16-4BE8-80E7-AC9E230C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Scaling pressure points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25AD1-143D-498B-AABD-8A28F546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C072A-CD74-4C26-B1A0-6439D821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5e253379f4bf3">
            <a:extLst>
              <a:ext uri="{96DAC541-7B7A-43D3-8B79-37D633B846F1}">
                <asvg:svgBlip xmlns:asvg="http://schemas.microsoft.com/office/drawing/2016/SVG/main" r:embed="R319e5edf5f42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4574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E3051-8A25-4430-A74B-77D85CF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Async database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53170-F028-4BA3-898B-BDCB005B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464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backend uses an async SQLAlchemy engine with session factories and connection health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8B516-630D-4CF3-B979-6716DF31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B2B46-8403-4E98-89FC-AADDE1A6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76b77ef5d4cbf">
            <a:extLst>
              <a:ext uri="{96DAC541-7B7A-43D3-8B79-37D633B846F1}">
                <asvg:svgBlip xmlns:asvg="http://schemas.microsoft.com/office/drawing/2016/SVG/main" r:embed="R301eccbe868148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34480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23A73-4CA1-4890-96C1-F074210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Client caching and retry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49EF2-9DB6-45FC-BB06-864C19A6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64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React Query, safe GET retries, and silent token refresh reduce redundant user-visible churn.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C6484-9C79-4315-83FA-7BD1170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4BCE7-8781-4463-B543-262023A7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b8521849e44b9">
            <a:extLst>
              <a:ext uri="{96DAC541-7B7A-43D3-8B79-37D633B846F1}">
                <asvg:svgBlip xmlns:asvg="http://schemas.microsoft.com/office/drawing/2016/SVG/main" r:embed="R19c02f427a8d4e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44386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983F4-2FA6-4A05-AAF3-C11AECF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Persistent retrieval substrate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5657C-D644-4566-915F-F5BA05F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464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FAISS artifacts and embedding metadata exist on disk instead of requiring pure in-memory recomputation.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6A8F5-958A-4B56-99B0-CEDD3CE4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2364C-9E58-4FB5-83FE-BCAD3F87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8821f90404031">
            <a:extLst>
              <a:ext uri="{96DAC541-7B7A-43D3-8B79-37D633B846F1}">
                <asvg:svgBlip xmlns:asvg="http://schemas.microsoft.com/office/drawing/2016/SVG/main" r:embed="Rab657f37df024e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54292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A687A-E09B-43BE-844F-EE647808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72100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Memory-aware document parsing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5004F3-2586-414F-9A30-29AAFEE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464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loader already uses read-only workbook access and chunk-oriented section extraction patterns.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CAA9D-B079-42C4-A00E-95BB761E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1625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B1F0C-FCC0-47FB-BCF9-7AA1E3F0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99b1953c9428a">
            <a:extLst>
              <a:ext uri="{96DAC541-7B7A-43D3-8B79-37D633B846F1}">
                <asvg:svgBlip xmlns:asvg="http://schemas.microsoft.com/office/drawing/2016/SVG/main" r:embed="R85ea33bee3614a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24574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F71D2-6A6A-4D38-AA06-222C4A5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443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Copilot request path is orchestration-heavy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1215A-87A9-4D5E-93F7-50C3E880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Retrieval, live data fetches, graph context, Gemini generation, and persistence all happen in one request cycle.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5E5D27-6AEF-4080-B957-D5C373A3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51625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30578D-691E-49C9-B2DC-A006CAFF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be446563645b3">
            <a:extLst>
              <a:ext uri="{96DAC541-7B7A-43D3-8B79-37D633B846F1}">
                <asvg:svgBlip xmlns:asvg="http://schemas.microsoft.com/office/drawing/2016/SVG/main" r:embed="Reafcb95873464b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34480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B56354-7DB4-4FCA-AF90-C1851263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90900"/>
            <a:ext cx="443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Frontend expects fast responses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10A26-B7D6-4D93-A624-07B372C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API client sets a 20 second timeout, so slow backend paths become user-visible quickly.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0F028F-7324-48B9-8FAD-9A5FC2FA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51625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966E35-B0DF-4809-ADD0-B4C63377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35c24ecbf4882">
            <a:extLst>
              <a:ext uri="{96DAC541-7B7A-43D3-8B79-37D633B846F1}">
                <asvg:svgBlip xmlns:asvg="http://schemas.microsoft.com/office/drawing/2016/SVG/main" r:embed="R2e772ede62bf41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44386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76EFED-1001-4F99-BF92-97E78E6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443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RAG assets need lifecycle discipline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DF550F-0603-43A4-A369-54491696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Datasets, loaders, embeddings, and FAISS indices can become latency and memory hotspots as they grow.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6473E8-2B68-4509-8E39-41EDF99A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51625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E0350D-111B-44AE-936C-DFF401A9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721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b6e14ea2a46a1">
            <a:extLst>
              <a:ext uri="{96DAC541-7B7A-43D3-8B79-37D633B846F1}">
                <asvg:svgBlip xmlns:asvg="http://schemas.microsoft.com/office/drawing/2016/SVG/main" r:embed="R67a77ad5786046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54292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149043-6E48-4558-A619-A2FD080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72100"/>
            <a:ext cx="443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Deployment details are not versioned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72F75D-8A25-49C0-9993-01216B48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340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Without committed infrastructure manifests, reproducible scaling and performance tuning stay partly manual.</a:t>
            </a:r>
          </a:p>
        </p:txBody>
      </p:sp>
    </p:spTree>
    <p:extLst>
      <p:ext uri="{BB962C8B-B14F-4D97-AF65-F5344CB8AC3E}">
        <p14:creationId xmlns:p14="http://schemas.microsoft.com/office/powerpoint/2010/main" val="15650977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7BBDF2-8E92-4F34-8FD0-47505819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646B5-1511-4329-BB18-021E647A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7ECEF-AB05-4DF3-A59F-C654CB8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6BCFC-C6A8-41D0-9E1A-46E6175D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93CEF-E3CB-4DCA-A864-7D1DAF3C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AC1F4-B12B-4113-9959-91DC08C8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hardest engineering work sits at the intersection of real-time safety and grounded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800DB-4787-438F-9DC5-72E0E02D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repository structure makes the main delivery challenges visible even without runtime logs or product analytics.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4BDE7-0ACE-4D6B-BB15-6CFEB636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668E1-79BB-44BD-B913-587B90F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11AE5-B259-42C1-BD8C-8A1CCB7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78AE4-098F-4E9F-924E-947C2677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26f1ca9af4c62">
            <a:extLst>
              <a:ext uri="{96DAC541-7B7A-43D3-8B79-37D633B846F1}">
                <asvg:svgBlip xmlns:asvg="http://schemas.microsoft.com/office/drawing/2016/SVG/main" r:embed="Rf50f0aae924f47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266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3E865-EDFD-42B9-A856-909A5447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Cross-domain context assembly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6B3C8-6A4D-424F-B5CA-2D7F8EBB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Plants, zones, equipment, workers, permits, and incidents must all align for risk analysis to be meaningful.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C9C2D-7216-4400-B0A0-07018D9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0AB14-0124-4BFE-9630-7A75D7C2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d9181b9e24b74">
            <a:extLst>
              <a:ext uri="{96DAC541-7B7A-43D3-8B79-37D633B846F1}">
                <asvg:svgBlip xmlns:asvg="http://schemas.microsoft.com/office/drawing/2016/SVG/main" r:embed="Rf0d88550a55946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2266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C9822-1EB6-4E9D-BCB9-39463122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Grounding AI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E7654-7851-49EC-8533-C8CBAF01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Citations, regulations, retrieved documents, and confidence need to stay aligned with what the system actually knows.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26626-560C-4C58-A813-EAC8583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32C79-DEE6-43EC-898A-889A59A0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a4a8b40ce463b">
            <a:extLst>
              <a:ext uri="{96DAC541-7B7A-43D3-8B79-37D633B846F1}">
                <asvg:svgBlip xmlns:asvg="http://schemas.microsoft.com/office/drawing/2016/SVG/main" r:embed="Rfe66983d3db24b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2266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062EF-BA05-4F8B-85B5-5DB3B501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Keeping graph reasoning useful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7BE3D-0645-42D8-919D-DCCABD89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 graph layer has to stay understandable to operators while still reflecting real relationships and impact paths.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9EFD0-D30E-4B2C-A2EF-E5A0E88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EA4AB-72EC-4AC2-BC29-B5F3AB3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81439d9fe41f4">
            <a:extLst>
              <a:ext uri="{96DAC541-7B7A-43D3-8B79-37D633B846F1}">
                <asvg:svgBlip xmlns:asvg="http://schemas.microsoft.com/office/drawing/2016/SVG/main" r:embed="R8b638591ace946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9052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C398B9-CC78-49D0-BBBF-B0468CD8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Serving multiple personas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ED711-49C6-4DAE-B0D0-7E697BF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Admins, plant managers, safety officers, maintenance users, and viewers all need different slices of the same system.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B74A5B-0E2E-4C89-8E82-248A037B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486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C095DC-1ADD-45F6-AB3E-10D9117F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6946b3a5d4dc9">
            <a:extLst>
              <a:ext uri="{96DAC541-7B7A-43D3-8B79-37D633B846F1}">
                <asvg:svgBlip xmlns:asvg="http://schemas.microsoft.com/office/drawing/2016/SVG/main" r:embed="R864aedb9c90940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39052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D62FB8-46D7-47ED-9017-749F80C0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Operationalizing the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2783BB-D883-453E-80D2-8C825602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Application code is strong, but deployment reproducibility and infrastructure visibility still need first-class treatment.</a:t>
            </a:r>
          </a:p>
        </p:txBody>
      </p:sp>
    </p:spTree>
    <p:extLst>
      <p:ext uri="{BB962C8B-B14F-4D97-AF65-F5344CB8AC3E}">
        <p14:creationId xmlns:p14="http://schemas.microsoft.com/office/powerpoint/2010/main" val="15428558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0CC86D-15DA-48B9-93C3-D37FE83E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447D4-B5E0-487B-A935-881D729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690E6-E372-40EF-9BCB-7C5BCCA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AC4AA-CBAF-4DF9-9637-27B49B5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F83C9-787A-4EC3-A2E1-69E8DDAD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B0423-3AF7-4FB7-937E-9D98B7D6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The next growth path is clear: stronger operations, stronger MLOps, stronger delivery maturity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5260D-D9D2-45B9-BD2A-94D4A913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These future directions are derived from current repository capabilities and the gaps that are still visible from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CAFBD-6F22-451F-B080-8050DEF8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A8306-F1F2-439C-8D14-C10917D6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2F1ED-EFD7-48AD-B21D-531E41F5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790700" cy="19812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B9EF3-53C7-41AE-97F3-57135D8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ee1c44c1c4933">
            <a:extLst>
              <a:ext uri="{96DAC541-7B7A-43D3-8B79-37D633B846F1}">
                <asvg:svgBlip xmlns:asvg="http://schemas.microsoft.com/office/drawing/2016/SVG/main" r:embed="R43ab134c910e4a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81150" y="3105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FCB42-87CD-48B5-9F75-D8CA7074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Streaming ingest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1192B-6DB3-49BB-B3DE-04D691D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Add real-time sensor pipelines and websocket or event-driven updates.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965DD-03EE-4D53-9AB1-FD8292AC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43200"/>
            <a:ext cx="1790700" cy="19812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3EFAA-2EBC-4FF2-BBC0-EC39B76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468af121c459d">
            <a:extLst>
              <a:ext uri="{96DAC541-7B7A-43D3-8B79-37D633B846F1}">
                <asvg:svgBlip xmlns:asvg="http://schemas.microsoft.com/office/drawing/2016/SVG/main" r:embed="R9d482b24308b45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52850" y="3105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8ADD0-5D58-4A0E-A5A5-2D56E4C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57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Background indexing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E2C53-AF10-49B5-A2E9-5EF73375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814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Move heavy ingestion and vector refresh work out of synchronous request paths.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E4CC1-900E-40ED-A84D-D5795160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1790700" cy="19812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FC39A-AFFC-434E-A668-C4727FA9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dc166619147a3">
            <a:extLst>
              <a:ext uri="{96DAC541-7B7A-43D3-8B79-37D633B846F1}">
                <asvg:svgBlip xmlns:asvg="http://schemas.microsoft.com/office/drawing/2016/SVG/main" r:embed="R67f6e32f375e41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550" y="3105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11039-EC13-439A-B485-772C672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57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Operational observability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2B6CF-B523-4106-95C9-E2558BA3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814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Track latency, model cost, retrieval quality, and failure modes directly.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85862-2B90-4BEF-A845-DEC0FF01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790700" cy="19812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48680-2E40-4230-A6D5-1EE36C3B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b4709e2524f73">
            <a:extLst>
              <a:ext uri="{96DAC541-7B7A-43D3-8B79-37D633B846F1}">
                <asvg:svgBlip xmlns:asvg="http://schemas.microsoft.com/office/drawing/2016/SVG/main" r:embed="R1ec26e5a86e143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0" y="3105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55905E-D90D-4432-9DF3-F6203280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57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Infrastructure as 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0CD50-5947-47B4-BF9D-932F2EC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Commit Docker and deployment manifests for repeatable builds and rollouts.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F92D6-188B-4464-87CF-F314950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43200"/>
            <a:ext cx="1790700" cy="19812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D7F74-F511-4C95-AA7B-DB6C9B52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210808e164557">
            <a:extLst>
              <a:ext uri="{96DAC541-7B7A-43D3-8B79-37D633B846F1}">
                <asvg:svgBlip xmlns:asvg="http://schemas.microsoft.com/office/drawing/2016/SVG/main" r:embed="R5fd96e8cd6d241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67950" y="3105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45D35-3F48-44A0-AF29-9426B29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57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Enterprise expansion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6DD489-ADDC-499C-AF40-3CACAD5A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814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Support multi-plant comparisons, integrations, and governance workflows.</a:t>
            </a:r>
          </a:p>
        </p:txBody>
      </p:sp>
      <p:cxnSp>
        <p:nvCxnSpPr>
          <p:cNvPr id="73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590800" y="3733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dash"/>
            <a:headEnd type="arrow" w="med" len="med"/>
          </a:ln>
        </p:spPr>
      </p:cxnSp>
      <p:cxnSp>
        <p:nvCxnSpPr>
          <p:cNvPr id="74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62500" y="3733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dash"/>
            <a:headEnd type="arrow" w="med" len="med"/>
          </a:ln>
        </p:spPr>
      </p:cxnSp>
      <p:cxnSp>
        <p:nvCxnSpPr>
          <p:cNvPr id="75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934200" y="3733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dash"/>
            <a:headEnd type="arrow" w="med" len="med"/>
          </a:ln>
        </p:spPr>
      </p:cxn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105900" y="3733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dash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1056367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8343F0-B858-4C41-8FC1-811CEDE6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8F3CE-38F1-480B-8C9B-9EF331F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81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9B2C8-A71C-4A90-B327-0F92527A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C4288-BA8D-45C0-98AC-5334B1C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63F3"/>
          </a:solidFill>
          <a:ln xmlns:a="http://schemas.openxmlformats.org/drawingml/2006/main" w="9525">
            <a:solidFill>
              <a:srgbClr val="0B63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E0320-1455-47C8-A079-4A10C396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4E696-DCAF-4864-9074-FDE7C33B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 strong demo tells the story from login to insight to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C94EA-FBF2-49BB-BB41-8BA2DC13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This sequence is aligned with the implemented frontend and backend flows, so the live demo can follow the actual product surface without improvisation.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084DD-1AE6-4702-9004-0D3D135A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A0B7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2B93C-C422-46E4-B96A-1F3B2B75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58E5C-53F2-4FE8-9E74-5C822DDA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619250" cy="2000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118D0-50F8-4000-BAA1-2BA20092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718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fd669ba3f4dd2">
            <a:extLst>
              <a:ext uri="{96DAC541-7B7A-43D3-8B79-37D633B846F1}">
                <asvg:svgBlip xmlns:asvg="http://schemas.microsoft.com/office/drawing/2016/SVG/main" r:embed="R001ed4af407b41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14475" y="3124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7ED80-14AB-493B-B3CC-4C86AEE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1. Sign 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8581C-795D-40C1-9CDA-71F09E65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Enter through the enterprise login page.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79E86-9FB6-47CC-ADAA-D0BBC4E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1619250" cy="2000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02B53-1E9B-4BA7-89BD-C6C51E3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718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96d60efc5497d">
            <a:extLst>
              <a:ext uri="{96DAC541-7B7A-43D3-8B79-37D633B846F1}">
                <asvg:svgBlip xmlns:asvg="http://schemas.microsoft.com/office/drawing/2016/SVG/main" r:embed="Rafd0be972e7f43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67075" y="3124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C75CB-E23B-4640-B653-EC23A4E3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2. Scan the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7BEEC-A5BB-4B42-AF92-76F1EA96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005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Show KPIs, alerts, live risks, and recent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AA043-8C69-4EE2-A56B-3FD0E25F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1619250" cy="2000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AC533-FE2E-444B-808E-24D96A29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718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781d372f342f9">
            <a:extLst>
              <a:ext uri="{96DAC541-7B7A-43D3-8B79-37D633B846F1}">
                <asvg:svgBlip xmlns:asvg="http://schemas.microsoft.com/office/drawing/2016/SVG/main" r:embed="Rcf331339aa2f44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9675" y="3124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7E2BE-642B-4C97-A932-B8A7D703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3. Open risk center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AB518-39EB-4CE9-9CC5-A50E5445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Inspect live risk, history, and explainability.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52956-46C8-4195-B799-9E1A3076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1619250" cy="2000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E49C4-FCE5-4A28-BF2E-100855D0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718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73dd7970a4325">
            <a:extLst>
              <a:ext uri="{96DAC541-7B7A-43D3-8B79-37D633B846F1}">
                <asvg:svgBlip xmlns:asvg="http://schemas.microsoft.com/office/drawing/2016/SVG/main" r:embed="Rfdf8f359f3024a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72275" y="3124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2C736-C33E-4B39-B3C7-34B4AD79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4. Review incidents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BDAF5E-3871-4C2D-9BF6-F867334D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Connect current risk to historical evidence.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8408C-EA69-41E8-9E67-7B5A8632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1619250" cy="2000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C0266D-E23F-4383-A952-28B31E87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718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fcb223071422e">
            <a:extLst>
              <a:ext uri="{96DAC541-7B7A-43D3-8B79-37D633B846F1}">
                <asvg:svgBlip xmlns:asvg="http://schemas.microsoft.com/office/drawing/2016/SVG/main" r:embed="R96ce6119ad1347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24875" y="3124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A11AA-B1D2-496B-A36B-99CE93B8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5. Ask the copilot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3E983-5B2A-4E9C-A8B8-E5AFE2A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Request grounded guidance with citations and regulations.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329546-2D74-488F-AB82-B179CDA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1619250" cy="2000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AD4020-E752-4E80-821D-B2031B4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718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3bd5e18264357">
            <a:extLst>
              <a:ext uri="{96DAC541-7B7A-43D3-8B79-37D633B846F1}">
                <asvg:svgBlip xmlns:asvg="http://schemas.microsoft.com/office/drawing/2016/SVG/main" r:embed="R2ed38379d5b047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77475" y="3124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923DFD-973A-4FF9-8C11-DA76C24A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766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6. Act and report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034776-6214-4E24-B0E6-71DEAB6E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Show recommendations, compliance, and saved context.</a:t>
            </a:r>
          </a:p>
        </p:txBody>
      </p:sp>
      <p:cxnSp>
        <p:nvCxnSpPr>
          <p:cNvPr id="8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38400" y="37433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191000" y="37433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6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943600" y="37433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7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696200" y="37433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  <p:cxnSp>
        <p:nvCxnSpPr>
          <p:cNvPr id="88" name=""/>
          <p:cNvCxnSpPr>
            <a:stCxn xmlns:a="http://schemas.openxmlformats.org/drawingml/2006/main" id="30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448800" y="37433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211867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5658C-DD24-42DD-A94E-B688DEBD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4D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096E2-F979-4DC2-A014-C5CE500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D1D23-531D-4B95-8E98-517FA53C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238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6F121-B608-4F8E-98C8-BDC1BABE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4A1AC-437D-40CF-81AB-3B8810F7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52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Sentinel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87CB7-349D-44CF-A405-DB914561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E6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E6FB"/>
                </a:solidFill>
                <a:latin typeface="Aptos"/>
                <a:ea typeface="Aptos"/>
                <a:cs typeface="Aptos"/>
              </a:rPr>
              <a:t>AI-Powered Industrial 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4C6EA-65ED-4BB3-A19D-37670F59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81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Questions, feedback, and follow-up discussion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details and contact information remain editable on this slide for final delivery.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1855E-DB39-4742-9F60-4A4902E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40005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9BE8E-FA5F-4687-9883-281AD824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35052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DB24F-296F-4685-BA90-0C5C4DE8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335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40dcc99214923">
            <a:extLst>
              <a:ext uri="{96DAC541-7B7A-43D3-8B79-37D633B846F1}">
                <asvg:svgBlip xmlns:asvg="http://schemas.microsoft.com/office/drawing/2016/SVG/main" r:embed="Rcced84f6c74247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96200" y="1790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74E8E-4075-4F13-889B-F24667D9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335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Built from source-backed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FCFB7-B6B8-4362-B184-59D8E8C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9550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All slide content is tied to committed repository structure and code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27BC7-0CD1-4716-8D1A-61EAA6F3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35052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5C2ED-B169-40B8-8344-3C16DA06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194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3c90e9dd24747">
            <a:extLst>
              <a:ext uri="{96DAC541-7B7A-43D3-8B79-37D633B846F1}">
                <asvg:svgBlip xmlns:asvg="http://schemas.microsoft.com/office/drawing/2016/SVG/main" r:embed="R121365fa216542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9620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B4261-DCF5-4188-97DD-80B9DA1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Deck is fully editable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89149-2ADF-4A76-9A77-3A0FDD2A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8135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Text, diagrams, and layout elements are native presentation objects rather than flattened screenshots.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0696D-D285-4CA1-9420-D9907096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52850"/>
            <a:ext cx="35052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9A9A2-1A87-4A4B-9768-E716AD2A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052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98d413b214bf1">
            <a:extLst>
              <a:ext uri="{96DAC541-7B7A-43D3-8B79-37D633B846F1}">
                <asvg:svgBlip xmlns:asvg="http://schemas.microsoft.com/office/drawing/2016/SVG/main" r:embed="Rb692fc27652748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96200" y="39624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A3F57-43AA-4C1B-BD67-8E37F16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Ready for multiple audiences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4A693-1746-4490-9E6F-467DAF7A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6720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08C"/>
                </a:solidFill>
                <a:latin typeface="Aptos"/>
                <a:ea typeface="Aptos"/>
                <a:cs typeface="Aptos"/>
              </a:rPr>
              <a:t>Suitable for hackathons, placements, technical reviews, and stakeholder demos.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0F273-1B07-4C94-A243-CC6B9CB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3505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BA0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A0B7"/>
                </a:solidFill>
                <a:latin typeface="Aptos"/>
                <a:ea typeface="Aptos"/>
                <a:cs typeface="Aptos"/>
              </a:rPr>
              <a:t>https://github.com/Shubhankar0126/Sentinel---AI.git</a:t>
            </a:r>
          </a:p>
        </p:txBody>
      </p:sp>
    </p:spTree>
    <p:extLst>
      <p:ext uri="{BB962C8B-B14F-4D97-AF65-F5344CB8AC3E}">
        <p14:creationId xmlns:p14="http://schemas.microsoft.com/office/powerpoint/2010/main" val="944213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2026-07-21T09:17:34.4570000Z</dcterms:created>
  <dcterms:modified xsi:type="dcterms:W3CDTF">2026-07-21T09:17:34.4570000Z</dcterms:modified>
</coreProperties>
</file>